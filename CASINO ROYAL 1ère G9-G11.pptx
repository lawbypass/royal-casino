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6" r:id="rId5"/>
    <p:sldId id="2836" r:id="rId6"/>
    <p:sldId id="277" r:id="rId7"/>
    <p:sldId id="278" r:id="rId8"/>
    <p:sldId id="279" r:id="rId9"/>
    <p:sldId id="280" r:id="rId10"/>
    <p:sldId id="267" r:id="rId11"/>
    <p:sldId id="2837" r:id="rId12"/>
    <p:sldId id="271" r:id="rId13"/>
    <p:sldId id="2838" r:id="rId14"/>
    <p:sldId id="272" r:id="rId15"/>
    <p:sldId id="2839" r:id="rId16"/>
    <p:sldId id="273" r:id="rId17"/>
    <p:sldId id="2840" r:id="rId18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562F"/>
    <a:srgbClr val="000203"/>
    <a:srgbClr val="000000"/>
    <a:srgbClr val="EFEDE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1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B38A06D-996C-44F3-B913-825DFD8AC179}" type="datetime1">
              <a:rPr lang="fr-FR" smtClean="0"/>
              <a:t>27/10/2026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4C531EA-3B14-40B9-94EF-FFD37E1084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1907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E131D3-9BE2-46E8-B996-039A12B2C477}" type="datetime1">
              <a:rPr lang="fr-FR" noProof="0" smtClean="0"/>
              <a:t>27/10/2026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33D7A2-C585-48BF-BF8C-C21FDC051F77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726620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733D7A2-C585-48BF-BF8C-C21FDC051F7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3332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A55CF2-256D-44FD-9430-5B63A079CF51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04979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rtlCol="0"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 rtlCol="0"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06C86350-C59B-49B7-B6A3-C006A2D9A913}" type="datetime1">
              <a:rPr lang="fr-FR" noProof="0" smtClean="0"/>
              <a:t>27/10/2026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 rtlCol="0"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grpSp>
        <p:nvGrpSpPr>
          <p:cNvPr id="7" name="Groupe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orme libre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orme libre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9" name="Image 8" descr="The image depicts a glamorous casino setting with a poker face, playing cards, and a roulette wheel, all set against a backdrop of shimmering, futuristic graphics.&#10;&#10;Le contenu généré par l’IA peut être incorrect.">
            <a:extLst>
              <a:ext uri="{FF2B5EF4-FFF2-40B4-BE49-F238E27FC236}">
                <a16:creationId xmlns:a16="http://schemas.microsoft.com/office/drawing/2014/main" id="{2A7A602A-50A8-2EE9-E063-2A0858C923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5905" cy="6858000"/>
          </a:xfrm>
          <a:prstGeom prst="rect">
            <a:avLst/>
          </a:prstGeom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14DA797-F142-D1B8-D5E3-493C31849B27}"/>
              </a:ext>
            </a:extLst>
          </p:cNvPr>
          <p:cNvSpPr/>
          <p:nvPr userDrawn="1"/>
        </p:nvSpPr>
        <p:spPr>
          <a:xfrm>
            <a:off x="6524689" y="4267131"/>
            <a:ext cx="5559269" cy="2295594"/>
          </a:xfrm>
          <a:prstGeom prst="roundRect">
            <a:avLst/>
          </a:prstGeom>
          <a:solidFill>
            <a:srgbClr val="7756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7AD2B4-193C-44DA-BE2C-33100C37057E}" type="datetime1">
              <a:rPr lang="fr-FR" noProof="0" smtClean="0"/>
              <a:t>27/10/2026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rtlCol="0"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65025" y="4216328"/>
            <a:ext cx="9612971" cy="1143324"/>
          </a:xfrm>
        </p:spPr>
        <p:txBody>
          <a:bodyPr rtlCol="0"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EB5E0A11-9398-468D-A8E2-506101C27709}" type="datetime1">
              <a:rPr lang="fr-FR" noProof="0" smtClean="0"/>
              <a:t>27/10/2026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 rtlCol="0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7" name="Forme libre 6" title="Repère de rognage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371600" y="2285999"/>
            <a:ext cx="4447786" cy="3581401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525403" y="2285999"/>
            <a:ext cx="4447786" cy="3581401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563BBE-4BD2-44A6-88C2-3DFD8FC8C1A5}" type="datetime1">
              <a:rPr lang="fr-FR" noProof="0" smtClean="0"/>
              <a:t>27/10/2026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371600" y="2340864"/>
            <a:ext cx="4443984" cy="823912"/>
          </a:xfrm>
        </p:spPr>
        <p:txBody>
          <a:bodyPr rtlCol="0"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371600" y="3305207"/>
            <a:ext cx="4443984" cy="2562193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525014" y="2340864"/>
            <a:ext cx="4443984" cy="823912"/>
          </a:xfrm>
        </p:spPr>
        <p:txBody>
          <a:bodyPr rtlCol="0"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525014" y="3305207"/>
            <a:ext cx="4443984" cy="2562193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62C45A-21A3-4B05-B2F9-D8CB0570209E}" type="datetime1">
              <a:rPr lang="fr-FR" noProof="0" smtClean="0"/>
              <a:t>27/10/2026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3B5F54-669E-4242-B20C-FEC67C52BA91}" type="datetime1">
              <a:rPr lang="fr-FR" noProof="0" smtClean="0"/>
              <a:t>27/10/2026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4E34C7-1BD1-4C59-A431-26F54DD0FE99}" type="datetime1">
              <a:rPr lang="fr-FR" noProof="0" smtClean="0"/>
              <a:t>27/10/2026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Forme d’arrière-plan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rtlCol="0"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6256020" y="685801"/>
            <a:ext cx="5212080" cy="517525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723900" y="2856344"/>
            <a:ext cx="3855720" cy="3011056"/>
          </a:xfrm>
        </p:spPr>
        <p:txBody>
          <a:bodyPr rtlCol="0"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89B75EAA-98D5-4BE3-BEEC-5DF1769883AE}" type="datetime1">
              <a:rPr lang="fr-FR" noProof="0" smtClean="0"/>
              <a:t>27/10/2026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9" name="Rectangle 8" title="Barre de séparation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Forme d’arrière-plan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rtlCol="0"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532120" y="0"/>
            <a:ext cx="6659880" cy="6857999"/>
          </a:xfrm>
        </p:spPr>
        <p:txBody>
          <a:bodyPr rtlCol="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723900" y="2855968"/>
            <a:ext cx="3855720" cy="3011432"/>
          </a:xfrm>
        </p:spPr>
        <p:txBody>
          <a:bodyPr rtlCol="0"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7905269A-CAA5-4373-8346-72C4F88512B2}" type="datetime1">
              <a:rPr lang="fr-FR" noProof="0" smtClean="0"/>
              <a:t>27/10/2026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9" name="Rectangle 8" title="Barre de séparation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371600" y="2295525"/>
            <a:ext cx="9601200" cy="3571875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DA1C5C-7F2E-433D-875A-FFDEB82FA351}" type="datetime1">
              <a:rPr lang="fr-FR" noProof="0" smtClean="0"/>
              <a:t>27/10/2026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371600" y="624156"/>
            <a:ext cx="8179641" cy="5243244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7D4B3E8-0B78-4EDB-B1B2-DDB7EDE35009}" type="datetime1">
              <a:rPr lang="fr-FR" noProof="0" smtClean="0"/>
              <a:t>27/10/2026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fr-FR" noProof="0" smtClean="0"/>
              <a:t>‹N°›</a:t>
            </a:fld>
            <a:endParaRPr lang="fr-FR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">
            <a:extLst>
              <a:ext uri="{FF2B5EF4-FFF2-40B4-BE49-F238E27FC236}">
                <a16:creationId xmlns:a16="http://schemas.microsoft.com/office/drawing/2014/main" id="{21EACABB-59BE-8533-79C5-18E84ACEF9AE}"/>
              </a:ext>
            </a:extLst>
          </p:cNvPr>
          <p:cNvSpPr/>
          <p:nvPr/>
        </p:nvSpPr>
        <p:spPr>
          <a:xfrm>
            <a:off x="6613565" y="1447800"/>
            <a:ext cx="5578435" cy="5410200"/>
          </a:xfrm>
          <a:custGeom>
            <a:avLst/>
            <a:gdLst/>
            <a:ahLst/>
            <a:cxnLst/>
            <a:rect l="l" t="t" r="r" b="b"/>
            <a:pathLst>
              <a:path w="9559290" h="9271000">
                <a:moveTo>
                  <a:pt x="9558996" y="0"/>
                </a:moveTo>
                <a:lnTo>
                  <a:pt x="9402301" y="0"/>
                </a:lnTo>
                <a:lnTo>
                  <a:pt x="9351514" y="12700"/>
                </a:lnTo>
                <a:lnTo>
                  <a:pt x="9250071" y="12700"/>
                </a:lnTo>
                <a:lnTo>
                  <a:pt x="9199418" y="25400"/>
                </a:lnTo>
                <a:lnTo>
                  <a:pt x="9148809" y="25400"/>
                </a:lnTo>
                <a:lnTo>
                  <a:pt x="9098246" y="38100"/>
                </a:lnTo>
                <a:lnTo>
                  <a:pt x="8997261" y="38100"/>
                </a:lnTo>
                <a:lnTo>
                  <a:pt x="8946838" y="50800"/>
                </a:lnTo>
                <a:lnTo>
                  <a:pt x="8896464" y="50800"/>
                </a:lnTo>
                <a:lnTo>
                  <a:pt x="8846137" y="63500"/>
                </a:lnTo>
                <a:lnTo>
                  <a:pt x="8795859" y="63500"/>
                </a:lnTo>
                <a:lnTo>
                  <a:pt x="8745629" y="76200"/>
                </a:lnTo>
                <a:lnTo>
                  <a:pt x="8695449" y="76200"/>
                </a:lnTo>
                <a:lnTo>
                  <a:pt x="8645319" y="88900"/>
                </a:lnTo>
                <a:lnTo>
                  <a:pt x="8595239" y="88900"/>
                </a:lnTo>
                <a:lnTo>
                  <a:pt x="8495231" y="114300"/>
                </a:lnTo>
                <a:lnTo>
                  <a:pt x="8445305" y="114300"/>
                </a:lnTo>
                <a:lnTo>
                  <a:pt x="8345607" y="139700"/>
                </a:lnTo>
                <a:lnTo>
                  <a:pt x="8295838" y="139700"/>
                </a:lnTo>
                <a:lnTo>
                  <a:pt x="8146850" y="177800"/>
                </a:lnTo>
                <a:lnTo>
                  <a:pt x="8097296" y="177800"/>
                </a:lnTo>
                <a:lnTo>
                  <a:pt x="7850359" y="241300"/>
                </a:lnTo>
                <a:lnTo>
                  <a:pt x="7801141" y="241300"/>
                </a:lnTo>
                <a:lnTo>
                  <a:pt x="7312202" y="368300"/>
                </a:lnTo>
                <a:lnTo>
                  <a:pt x="7263642" y="393700"/>
                </a:lnTo>
                <a:lnTo>
                  <a:pt x="7021783" y="457200"/>
                </a:lnTo>
                <a:lnTo>
                  <a:pt x="6973603" y="482600"/>
                </a:lnTo>
                <a:lnTo>
                  <a:pt x="6829455" y="520700"/>
                </a:lnTo>
                <a:lnTo>
                  <a:pt x="6781537" y="546100"/>
                </a:lnTo>
                <a:lnTo>
                  <a:pt x="6685902" y="571500"/>
                </a:lnTo>
                <a:lnTo>
                  <a:pt x="6638186" y="596900"/>
                </a:lnTo>
                <a:lnTo>
                  <a:pt x="6590538" y="609600"/>
                </a:lnTo>
                <a:lnTo>
                  <a:pt x="6542958" y="635000"/>
                </a:lnTo>
                <a:lnTo>
                  <a:pt x="6448006" y="660400"/>
                </a:lnTo>
                <a:lnTo>
                  <a:pt x="6400634" y="685800"/>
                </a:lnTo>
                <a:lnTo>
                  <a:pt x="6353332" y="698500"/>
                </a:lnTo>
                <a:lnTo>
                  <a:pt x="6306101" y="723900"/>
                </a:lnTo>
                <a:lnTo>
                  <a:pt x="6258941" y="736600"/>
                </a:lnTo>
                <a:lnTo>
                  <a:pt x="6211852" y="762000"/>
                </a:lnTo>
                <a:lnTo>
                  <a:pt x="6164835" y="774700"/>
                </a:lnTo>
                <a:lnTo>
                  <a:pt x="6072055" y="825500"/>
                </a:lnTo>
                <a:lnTo>
                  <a:pt x="6025849" y="838200"/>
                </a:lnTo>
                <a:lnTo>
                  <a:pt x="5979766" y="863600"/>
                </a:lnTo>
                <a:lnTo>
                  <a:pt x="5933806" y="876300"/>
                </a:lnTo>
                <a:lnTo>
                  <a:pt x="5842258" y="927100"/>
                </a:lnTo>
                <a:lnTo>
                  <a:pt x="5796670" y="939800"/>
                </a:lnTo>
                <a:lnTo>
                  <a:pt x="5705870" y="990600"/>
                </a:lnTo>
                <a:lnTo>
                  <a:pt x="5660659" y="1003300"/>
                </a:lnTo>
                <a:lnTo>
                  <a:pt x="5481077" y="1104900"/>
                </a:lnTo>
                <a:lnTo>
                  <a:pt x="5436499" y="1117600"/>
                </a:lnTo>
                <a:lnTo>
                  <a:pt x="5128060" y="1295400"/>
                </a:lnTo>
                <a:lnTo>
                  <a:pt x="5084517" y="1308100"/>
                </a:lnTo>
                <a:lnTo>
                  <a:pt x="4868773" y="1435100"/>
                </a:lnTo>
                <a:lnTo>
                  <a:pt x="4826022" y="1473200"/>
                </a:lnTo>
                <a:lnTo>
                  <a:pt x="4488840" y="1676400"/>
                </a:lnTo>
                <a:lnTo>
                  <a:pt x="4447302" y="1714500"/>
                </a:lnTo>
                <a:lnTo>
                  <a:pt x="4323510" y="1790700"/>
                </a:lnTo>
                <a:lnTo>
                  <a:pt x="4282521" y="1828800"/>
                </a:lnTo>
                <a:lnTo>
                  <a:pt x="4160385" y="1905000"/>
                </a:lnTo>
                <a:lnTo>
                  <a:pt x="4119951" y="1943100"/>
                </a:lnTo>
                <a:lnTo>
                  <a:pt x="4039504" y="1993900"/>
                </a:lnTo>
                <a:lnTo>
                  <a:pt x="3999490" y="2032000"/>
                </a:lnTo>
                <a:lnTo>
                  <a:pt x="3959618" y="2057400"/>
                </a:lnTo>
                <a:lnTo>
                  <a:pt x="3919887" y="2095500"/>
                </a:lnTo>
                <a:lnTo>
                  <a:pt x="3880298" y="2120900"/>
                </a:lnTo>
                <a:lnTo>
                  <a:pt x="3840851" y="2159000"/>
                </a:lnTo>
                <a:lnTo>
                  <a:pt x="3762384" y="2209800"/>
                </a:lnTo>
                <a:lnTo>
                  <a:pt x="3723365" y="2247900"/>
                </a:lnTo>
                <a:lnTo>
                  <a:pt x="3684490" y="2273300"/>
                </a:lnTo>
                <a:lnTo>
                  <a:pt x="3645759" y="2311400"/>
                </a:lnTo>
                <a:lnTo>
                  <a:pt x="3607172" y="2336800"/>
                </a:lnTo>
                <a:lnTo>
                  <a:pt x="3530433" y="2413000"/>
                </a:lnTo>
                <a:lnTo>
                  <a:pt x="3492282" y="2438400"/>
                </a:lnTo>
                <a:lnTo>
                  <a:pt x="3454276" y="2476500"/>
                </a:lnTo>
                <a:lnTo>
                  <a:pt x="3416417" y="2501900"/>
                </a:lnTo>
                <a:lnTo>
                  <a:pt x="3341139" y="2578100"/>
                </a:lnTo>
                <a:lnTo>
                  <a:pt x="3303720" y="2603500"/>
                </a:lnTo>
                <a:lnTo>
                  <a:pt x="3229328" y="2679700"/>
                </a:lnTo>
                <a:lnTo>
                  <a:pt x="3192354" y="2705100"/>
                </a:lnTo>
                <a:lnTo>
                  <a:pt x="3082328" y="2819400"/>
                </a:lnTo>
                <a:lnTo>
                  <a:pt x="3045952" y="2844800"/>
                </a:lnTo>
                <a:lnTo>
                  <a:pt x="2901979" y="2997200"/>
                </a:lnTo>
                <a:lnTo>
                  <a:pt x="2866428" y="3022600"/>
                </a:lnTo>
                <a:lnTo>
                  <a:pt x="2795917" y="3098800"/>
                </a:lnTo>
                <a:lnTo>
                  <a:pt x="2691641" y="3213100"/>
                </a:lnTo>
                <a:lnTo>
                  <a:pt x="2589157" y="3327400"/>
                </a:lnTo>
                <a:lnTo>
                  <a:pt x="2555395" y="3352800"/>
                </a:lnTo>
                <a:lnTo>
                  <a:pt x="2488472" y="3429000"/>
                </a:lnTo>
                <a:lnTo>
                  <a:pt x="2422352" y="3505200"/>
                </a:lnTo>
                <a:lnTo>
                  <a:pt x="2357037" y="3581400"/>
                </a:lnTo>
                <a:lnTo>
                  <a:pt x="2292528" y="3657600"/>
                </a:lnTo>
                <a:lnTo>
                  <a:pt x="2260577" y="3708400"/>
                </a:lnTo>
                <a:lnTo>
                  <a:pt x="2228829" y="3746500"/>
                </a:lnTo>
                <a:lnTo>
                  <a:pt x="2165941" y="3822700"/>
                </a:lnTo>
                <a:lnTo>
                  <a:pt x="2103865" y="3898900"/>
                </a:lnTo>
                <a:lnTo>
                  <a:pt x="2042605" y="3975100"/>
                </a:lnTo>
                <a:lnTo>
                  <a:pt x="1982162" y="4051300"/>
                </a:lnTo>
                <a:lnTo>
                  <a:pt x="1952248" y="4102100"/>
                </a:lnTo>
                <a:lnTo>
                  <a:pt x="1893035" y="4178300"/>
                </a:lnTo>
                <a:lnTo>
                  <a:pt x="1834644" y="4254500"/>
                </a:lnTo>
                <a:lnTo>
                  <a:pt x="1805757" y="4305300"/>
                </a:lnTo>
                <a:lnTo>
                  <a:pt x="1777077" y="4343400"/>
                </a:lnTo>
                <a:lnTo>
                  <a:pt x="1720337" y="4419600"/>
                </a:lnTo>
                <a:lnTo>
                  <a:pt x="1692277" y="4470400"/>
                </a:lnTo>
                <a:lnTo>
                  <a:pt x="1664425" y="4508500"/>
                </a:lnTo>
                <a:lnTo>
                  <a:pt x="1636781" y="4546600"/>
                </a:lnTo>
                <a:lnTo>
                  <a:pt x="1609344" y="4584700"/>
                </a:lnTo>
                <a:lnTo>
                  <a:pt x="1582116" y="4635500"/>
                </a:lnTo>
                <a:lnTo>
                  <a:pt x="1555096" y="4673600"/>
                </a:lnTo>
                <a:lnTo>
                  <a:pt x="1528284" y="4711700"/>
                </a:lnTo>
                <a:lnTo>
                  <a:pt x="1501682" y="4762500"/>
                </a:lnTo>
                <a:lnTo>
                  <a:pt x="1475289" y="4800600"/>
                </a:lnTo>
                <a:lnTo>
                  <a:pt x="1449105" y="4838700"/>
                </a:lnTo>
                <a:lnTo>
                  <a:pt x="1423131" y="4889500"/>
                </a:lnTo>
                <a:lnTo>
                  <a:pt x="1397367" y="4927600"/>
                </a:lnTo>
                <a:lnTo>
                  <a:pt x="1371813" y="4978400"/>
                </a:lnTo>
                <a:lnTo>
                  <a:pt x="1346469" y="5016500"/>
                </a:lnTo>
                <a:lnTo>
                  <a:pt x="1321337" y="5054600"/>
                </a:lnTo>
                <a:lnTo>
                  <a:pt x="1296415" y="5105400"/>
                </a:lnTo>
                <a:lnTo>
                  <a:pt x="1271704" y="5143500"/>
                </a:lnTo>
                <a:lnTo>
                  <a:pt x="1247205" y="5194300"/>
                </a:lnTo>
                <a:lnTo>
                  <a:pt x="1222918" y="5232400"/>
                </a:lnTo>
                <a:lnTo>
                  <a:pt x="1198843" y="5283200"/>
                </a:lnTo>
                <a:lnTo>
                  <a:pt x="1174980" y="5321300"/>
                </a:lnTo>
                <a:lnTo>
                  <a:pt x="1151329" y="5359400"/>
                </a:lnTo>
                <a:lnTo>
                  <a:pt x="1127892" y="5410200"/>
                </a:lnTo>
                <a:lnTo>
                  <a:pt x="1104667" y="5448300"/>
                </a:lnTo>
                <a:lnTo>
                  <a:pt x="1081656" y="5499100"/>
                </a:lnTo>
                <a:lnTo>
                  <a:pt x="1058858" y="5549900"/>
                </a:lnTo>
                <a:lnTo>
                  <a:pt x="1036274" y="5588000"/>
                </a:lnTo>
                <a:lnTo>
                  <a:pt x="1013904" y="5638800"/>
                </a:lnTo>
                <a:lnTo>
                  <a:pt x="991748" y="5676900"/>
                </a:lnTo>
                <a:lnTo>
                  <a:pt x="969807" y="5727700"/>
                </a:lnTo>
                <a:lnTo>
                  <a:pt x="948081" y="5765800"/>
                </a:lnTo>
                <a:lnTo>
                  <a:pt x="926570" y="5816600"/>
                </a:lnTo>
                <a:lnTo>
                  <a:pt x="905275" y="5854700"/>
                </a:lnTo>
                <a:lnTo>
                  <a:pt x="884194" y="5905500"/>
                </a:lnTo>
                <a:lnTo>
                  <a:pt x="863330" y="5956300"/>
                </a:lnTo>
                <a:lnTo>
                  <a:pt x="842682" y="5994400"/>
                </a:lnTo>
                <a:lnTo>
                  <a:pt x="822250" y="6045200"/>
                </a:lnTo>
                <a:lnTo>
                  <a:pt x="802035" y="6096000"/>
                </a:lnTo>
                <a:lnTo>
                  <a:pt x="782037" y="6134100"/>
                </a:lnTo>
                <a:lnTo>
                  <a:pt x="742507" y="6235700"/>
                </a:lnTo>
                <a:lnTo>
                  <a:pt x="723003" y="6273800"/>
                </a:lnTo>
                <a:lnTo>
                  <a:pt x="703745" y="6324600"/>
                </a:lnTo>
                <a:lnTo>
                  <a:pt x="684731" y="6375400"/>
                </a:lnTo>
                <a:lnTo>
                  <a:pt x="665963" y="6413500"/>
                </a:lnTo>
                <a:lnTo>
                  <a:pt x="647440" y="6464300"/>
                </a:lnTo>
                <a:lnTo>
                  <a:pt x="629162" y="6515100"/>
                </a:lnTo>
                <a:lnTo>
                  <a:pt x="611130" y="6565900"/>
                </a:lnTo>
                <a:lnTo>
                  <a:pt x="593343" y="6604000"/>
                </a:lnTo>
                <a:lnTo>
                  <a:pt x="575803" y="6654800"/>
                </a:lnTo>
                <a:lnTo>
                  <a:pt x="558508" y="6705600"/>
                </a:lnTo>
                <a:lnTo>
                  <a:pt x="541458" y="6756400"/>
                </a:lnTo>
                <a:lnTo>
                  <a:pt x="524655" y="6794500"/>
                </a:lnTo>
                <a:lnTo>
                  <a:pt x="508098" y="6845300"/>
                </a:lnTo>
                <a:lnTo>
                  <a:pt x="491787" y="6896100"/>
                </a:lnTo>
                <a:lnTo>
                  <a:pt x="475722" y="6946900"/>
                </a:lnTo>
                <a:lnTo>
                  <a:pt x="459903" y="6997700"/>
                </a:lnTo>
                <a:lnTo>
                  <a:pt x="444331" y="7035800"/>
                </a:lnTo>
                <a:lnTo>
                  <a:pt x="429005" y="7086600"/>
                </a:lnTo>
                <a:lnTo>
                  <a:pt x="413926" y="7137400"/>
                </a:lnTo>
                <a:lnTo>
                  <a:pt x="399093" y="7188200"/>
                </a:lnTo>
                <a:lnTo>
                  <a:pt x="384507" y="7239000"/>
                </a:lnTo>
                <a:lnTo>
                  <a:pt x="370168" y="7277100"/>
                </a:lnTo>
                <a:lnTo>
                  <a:pt x="356076" y="7327900"/>
                </a:lnTo>
                <a:lnTo>
                  <a:pt x="342231" y="7378700"/>
                </a:lnTo>
                <a:lnTo>
                  <a:pt x="328633" y="7429500"/>
                </a:lnTo>
                <a:lnTo>
                  <a:pt x="315282" y="7480300"/>
                </a:lnTo>
                <a:lnTo>
                  <a:pt x="302178" y="7531100"/>
                </a:lnTo>
                <a:lnTo>
                  <a:pt x="289322" y="7569200"/>
                </a:lnTo>
                <a:lnTo>
                  <a:pt x="276713" y="7620000"/>
                </a:lnTo>
                <a:lnTo>
                  <a:pt x="264352" y="7670800"/>
                </a:lnTo>
                <a:lnTo>
                  <a:pt x="252238" y="7721600"/>
                </a:lnTo>
                <a:lnTo>
                  <a:pt x="240372" y="7772400"/>
                </a:lnTo>
                <a:lnTo>
                  <a:pt x="228754" y="7823200"/>
                </a:lnTo>
                <a:lnTo>
                  <a:pt x="217383" y="7874000"/>
                </a:lnTo>
                <a:lnTo>
                  <a:pt x="206261" y="7912100"/>
                </a:lnTo>
                <a:lnTo>
                  <a:pt x="195386" y="7962900"/>
                </a:lnTo>
                <a:lnTo>
                  <a:pt x="184760" y="8013700"/>
                </a:lnTo>
                <a:lnTo>
                  <a:pt x="174382" y="8064500"/>
                </a:lnTo>
                <a:lnTo>
                  <a:pt x="164252" y="8115300"/>
                </a:lnTo>
                <a:lnTo>
                  <a:pt x="154371" y="8166100"/>
                </a:lnTo>
                <a:lnTo>
                  <a:pt x="144738" y="8216900"/>
                </a:lnTo>
                <a:lnTo>
                  <a:pt x="135353" y="8267700"/>
                </a:lnTo>
                <a:lnTo>
                  <a:pt x="126218" y="8318500"/>
                </a:lnTo>
                <a:lnTo>
                  <a:pt x="117331" y="8369300"/>
                </a:lnTo>
                <a:lnTo>
                  <a:pt x="108692" y="8407400"/>
                </a:lnTo>
                <a:lnTo>
                  <a:pt x="100303" y="8458200"/>
                </a:lnTo>
                <a:lnTo>
                  <a:pt x="92163" y="8509000"/>
                </a:lnTo>
                <a:lnTo>
                  <a:pt x="84272" y="8559800"/>
                </a:lnTo>
                <a:lnTo>
                  <a:pt x="76630" y="8610600"/>
                </a:lnTo>
                <a:lnTo>
                  <a:pt x="69237" y="8661400"/>
                </a:lnTo>
                <a:lnTo>
                  <a:pt x="62094" y="8712200"/>
                </a:lnTo>
                <a:lnTo>
                  <a:pt x="55200" y="8763000"/>
                </a:lnTo>
                <a:lnTo>
                  <a:pt x="48556" y="8813800"/>
                </a:lnTo>
                <a:lnTo>
                  <a:pt x="42161" y="8864600"/>
                </a:lnTo>
                <a:lnTo>
                  <a:pt x="36016" y="8915400"/>
                </a:lnTo>
                <a:lnTo>
                  <a:pt x="30121" y="8966200"/>
                </a:lnTo>
                <a:lnTo>
                  <a:pt x="24475" y="9017000"/>
                </a:lnTo>
                <a:lnTo>
                  <a:pt x="19080" y="9067800"/>
                </a:lnTo>
                <a:lnTo>
                  <a:pt x="13934" y="9118600"/>
                </a:lnTo>
                <a:lnTo>
                  <a:pt x="9039" y="9169400"/>
                </a:lnTo>
                <a:lnTo>
                  <a:pt x="4394" y="9220200"/>
                </a:lnTo>
                <a:lnTo>
                  <a:pt x="0" y="9271000"/>
                </a:lnTo>
                <a:lnTo>
                  <a:pt x="3048610" y="9271000"/>
                </a:lnTo>
                <a:lnTo>
                  <a:pt x="3054879" y="9220200"/>
                </a:lnTo>
                <a:lnTo>
                  <a:pt x="3061505" y="9169400"/>
                </a:lnTo>
                <a:lnTo>
                  <a:pt x="3068487" y="9118600"/>
                </a:lnTo>
                <a:lnTo>
                  <a:pt x="3075826" y="9067800"/>
                </a:lnTo>
                <a:lnTo>
                  <a:pt x="3083521" y="9017000"/>
                </a:lnTo>
                <a:lnTo>
                  <a:pt x="3091571" y="8966200"/>
                </a:lnTo>
                <a:lnTo>
                  <a:pt x="3099978" y="8915400"/>
                </a:lnTo>
                <a:lnTo>
                  <a:pt x="3108739" y="8864600"/>
                </a:lnTo>
                <a:lnTo>
                  <a:pt x="3117857" y="8813800"/>
                </a:lnTo>
                <a:lnTo>
                  <a:pt x="3127329" y="8763000"/>
                </a:lnTo>
                <a:lnTo>
                  <a:pt x="3137156" y="8712200"/>
                </a:lnTo>
                <a:lnTo>
                  <a:pt x="3147338" y="8674100"/>
                </a:lnTo>
                <a:lnTo>
                  <a:pt x="3157875" y="8623300"/>
                </a:lnTo>
                <a:lnTo>
                  <a:pt x="3168766" y="8572500"/>
                </a:lnTo>
                <a:lnTo>
                  <a:pt x="3180012" y="8521700"/>
                </a:lnTo>
                <a:lnTo>
                  <a:pt x="3191612" y="8470900"/>
                </a:lnTo>
                <a:lnTo>
                  <a:pt x="3203565" y="8420100"/>
                </a:lnTo>
                <a:lnTo>
                  <a:pt x="3215873" y="8369300"/>
                </a:lnTo>
                <a:lnTo>
                  <a:pt x="3228534" y="8318500"/>
                </a:lnTo>
                <a:lnTo>
                  <a:pt x="3241548" y="8280400"/>
                </a:lnTo>
                <a:lnTo>
                  <a:pt x="3254916" y="8229600"/>
                </a:lnTo>
                <a:lnTo>
                  <a:pt x="3268636" y="8178800"/>
                </a:lnTo>
                <a:lnTo>
                  <a:pt x="3282710" y="8128000"/>
                </a:lnTo>
                <a:lnTo>
                  <a:pt x="3297136" y="8077200"/>
                </a:lnTo>
                <a:lnTo>
                  <a:pt x="3311915" y="8026400"/>
                </a:lnTo>
                <a:lnTo>
                  <a:pt x="3327046" y="7988300"/>
                </a:lnTo>
                <a:lnTo>
                  <a:pt x="3342529" y="7937500"/>
                </a:lnTo>
                <a:lnTo>
                  <a:pt x="3358364" y="7886700"/>
                </a:lnTo>
                <a:lnTo>
                  <a:pt x="3374551" y="7835900"/>
                </a:lnTo>
                <a:lnTo>
                  <a:pt x="3391090" y="7785100"/>
                </a:lnTo>
                <a:lnTo>
                  <a:pt x="3407980" y="7747000"/>
                </a:lnTo>
                <a:lnTo>
                  <a:pt x="3425221" y="7696200"/>
                </a:lnTo>
                <a:lnTo>
                  <a:pt x="3442814" y="7645400"/>
                </a:lnTo>
                <a:lnTo>
                  <a:pt x="3460757" y="7594600"/>
                </a:lnTo>
                <a:lnTo>
                  <a:pt x="3479051" y="7556500"/>
                </a:lnTo>
                <a:lnTo>
                  <a:pt x="3497696" y="7505700"/>
                </a:lnTo>
                <a:lnTo>
                  <a:pt x="3516691" y="7454900"/>
                </a:lnTo>
                <a:lnTo>
                  <a:pt x="3536036" y="7416800"/>
                </a:lnTo>
                <a:lnTo>
                  <a:pt x="3555731" y="7366000"/>
                </a:lnTo>
                <a:lnTo>
                  <a:pt x="3575813" y="7315200"/>
                </a:lnTo>
                <a:lnTo>
                  <a:pt x="3596213" y="7264400"/>
                </a:lnTo>
                <a:lnTo>
                  <a:pt x="3616930" y="7226300"/>
                </a:lnTo>
                <a:lnTo>
                  <a:pt x="3637966" y="7175500"/>
                </a:lnTo>
                <a:lnTo>
                  <a:pt x="3659318" y="7124700"/>
                </a:lnTo>
                <a:lnTo>
                  <a:pt x="3680986" y="7086600"/>
                </a:lnTo>
                <a:lnTo>
                  <a:pt x="3702971" y="7035800"/>
                </a:lnTo>
                <a:lnTo>
                  <a:pt x="3725270" y="6997700"/>
                </a:lnTo>
                <a:lnTo>
                  <a:pt x="3747885" y="6946900"/>
                </a:lnTo>
                <a:lnTo>
                  <a:pt x="3770813" y="6896100"/>
                </a:lnTo>
                <a:lnTo>
                  <a:pt x="3794055" y="6858000"/>
                </a:lnTo>
                <a:lnTo>
                  <a:pt x="3817610" y="6807200"/>
                </a:lnTo>
                <a:lnTo>
                  <a:pt x="3841478" y="6769100"/>
                </a:lnTo>
                <a:lnTo>
                  <a:pt x="3865657" y="6718300"/>
                </a:lnTo>
                <a:lnTo>
                  <a:pt x="3890148" y="6680200"/>
                </a:lnTo>
                <a:lnTo>
                  <a:pt x="3914950" y="6629400"/>
                </a:lnTo>
                <a:lnTo>
                  <a:pt x="3940062" y="6591300"/>
                </a:lnTo>
                <a:lnTo>
                  <a:pt x="3965484" y="6540500"/>
                </a:lnTo>
                <a:lnTo>
                  <a:pt x="3991216" y="6502400"/>
                </a:lnTo>
                <a:lnTo>
                  <a:pt x="4017256" y="6464300"/>
                </a:lnTo>
                <a:lnTo>
                  <a:pt x="4043604" y="6413500"/>
                </a:lnTo>
                <a:lnTo>
                  <a:pt x="4070260" y="6375400"/>
                </a:lnTo>
                <a:lnTo>
                  <a:pt x="4097223" y="6324600"/>
                </a:lnTo>
                <a:lnTo>
                  <a:pt x="4124493" y="6286500"/>
                </a:lnTo>
                <a:lnTo>
                  <a:pt x="4152068" y="6248400"/>
                </a:lnTo>
                <a:lnTo>
                  <a:pt x="4179949" y="6197600"/>
                </a:lnTo>
                <a:lnTo>
                  <a:pt x="4208135" y="6159500"/>
                </a:lnTo>
                <a:lnTo>
                  <a:pt x="4236626" y="6121400"/>
                </a:lnTo>
                <a:lnTo>
                  <a:pt x="4265420" y="6070600"/>
                </a:lnTo>
                <a:lnTo>
                  <a:pt x="4294518" y="6032500"/>
                </a:lnTo>
                <a:lnTo>
                  <a:pt x="4323918" y="5994400"/>
                </a:lnTo>
                <a:lnTo>
                  <a:pt x="4353620" y="5956300"/>
                </a:lnTo>
                <a:lnTo>
                  <a:pt x="4383625" y="5905500"/>
                </a:lnTo>
                <a:lnTo>
                  <a:pt x="4413930" y="5867400"/>
                </a:lnTo>
                <a:lnTo>
                  <a:pt x="4444536" y="5829300"/>
                </a:lnTo>
                <a:lnTo>
                  <a:pt x="4475442" y="5791200"/>
                </a:lnTo>
                <a:lnTo>
                  <a:pt x="4506647" y="5753100"/>
                </a:lnTo>
                <a:lnTo>
                  <a:pt x="4538152" y="5715000"/>
                </a:lnTo>
                <a:lnTo>
                  <a:pt x="4569955" y="5664200"/>
                </a:lnTo>
                <a:lnTo>
                  <a:pt x="4602055" y="5626100"/>
                </a:lnTo>
                <a:lnTo>
                  <a:pt x="4634453" y="5588000"/>
                </a:lnTo>
                <a:lnTo>
                  <a:pt x="4667148" y="5549900"/>
                </a:lnTo>
                <a:lnTo>
                  <a:pt x="4700139" y="5511800"/>
                </a:lnTo>
                <a:lnTo>
                  <a:pt x="4733426" y="5473700"/>
                </a:lnTo>
                <a:lnTo>
                  <a:pt x="4800885" y="5397500"/>
                </a:lnTo>
                <a:lnTo>
                  <a:pt x="4869520" y="5321300"/>
                </a:lnTo>
                <a:lnTo>
                  <a:pt x="4939326" y="5245100"/>
                </a:lnTo>
                <a:lnTo>
                  <a:pt x="5010301" y="5168900"/>
                </a:lnTo>
                <a:lnTo>
                  <a:pt x="5046225" y="5130800"/>
                </a:lnTo>
                <a:lnTo>
                  <a:pt x="5082439" y="5105400"/>
                </a:lnTo>
                <a:lnTo>
                  <a:pt x="5192506" y="4991100"/>
                </a:lnTo>
                <a:lnTo>
                  <a:pt x="5229633" y="4953000"/>
                </a:lnTo>
                <a:lnTo>
                  <a:pt x="5266977" y="4927600"/>
                </a:lnTo>
                <a:lnTo>
                  <a:pt x="5380306" y="4813300"/>
                </a:lnTo>
                <a:lnTo>
                  <a:pt x="5418512" y="4787900"/>
                </a:lnTo>
                <a:lnTo>
                  <a:pt x="5495563" y="4711700"/>
                </a:lnTo>
                <a:lnTo>
                  <a:pt x="5534406" y="4686300"/>
                </a:lnTo>
                <a:lnTo>
                  <a:pt x="5573461" y="4648200"/>
                </a:lnTo>
                <a:lnTo>
                  <a:pt x="5612725" y="4622800"/>
                </a:lnTo>
                <a:lnTo>
                  <a:pt x="5652199" y="4584700"/>
                </a:lnTo>
                <a:lnTo>
                  <a:pt x="5691881" y="4559300"/>
                </a:lnTo>
                <a:lnTo>
                  <a:pt x="5731771" y="4521200"/>
                </a:lnTo>
                <a:lnTo>
                  <a:pt x="5771868" y="4495800"/>
                </a:lnTo>
                <a:lnTo>
                  <a:pt x="5812172" y="4457700"/>
                </a:lnTo>
                <a:lnTo>
                  <a:pt x="5893393" y="4406900"/>
                </a:lnTo>
                <a:lnTo>
                  <a:pt x="5934310" y="4368800"/>
                </a:lnTo>
                <a:lnTo>
                  <a:pt x="6016751" y="4318000"/>
                </a:lnTo>
                <a:lnTo>
                  <a:pt x="6058274" y="4279900"/>
                </a:lnTo>
                <a:lnTo>
                  <a:pt x="6184043" y="4203700"/>
                </a:lnTo>
                <a:lnTo>
                  <a:pt x="6226363" y="4165600"/>
                </a:lnTo>
                <a:lnTo>
                  <a:pt x="6528082" y="3987800"/>
                </a:lnTo>
                <a:lnTo>
                  <a:pt x="6884384" y="3784600"/>
                </a:lnTo>
                <a:lnTo>
                  <a:pt x="6929764" y="3771900"/>
                </a:lnTo>
                <a:lnTo>
                  <a:pt x="7067006" y="3695700"/>
                </a:lnTo>
                <a:lnTo>
                  <a:pt x="7113118" y="3683000"/>
                </a:lnTo>
                <a:lnTo>
                  <a:pt x="7205885" y="3632200"/>
                </a:lnTo>
                <a:lnTo>
                  <a:pt x="7252538" y="3619500"/>
                </a:lnTo>
                <a:lnTo>
                  <a:pt x="7346380" y="3568700"/>
                </a:lnTo>
                <a:lnTo>
                  <a:pt x="7393412" y="3556000"/>
                </a:lnTo>
                <a:lnTo>
                  <a:pt x="7440549" y="3530600"/>
                </a:lnTo>
                <a:lnTo>
                  <a:pt x="7487790" y="3517900"/>
                </a:lnTo>
                <a:lnTo>
                  <a:pt x="7535135" y="3492500"/>
                </a:lnTo>
                <a:lnTo>
                  <a:pt x="7582582" y="3479800"/>
                </a:lnTo>
                <a:lnTo>
                  <a:pt x="7630131" y="3454400"/>
                </a:lnTo>
                <a:lnTo>
                  <a:pt x="7725531" y="3429000"/>
                </a:lnTo>
                <a:lnTo>
                  <a:pt x="7773380" y="3403600"/>
                </a:lnTo>
                <a:lnTo>
                  <a:pt x="7917512" y="3365500"/>
                </a:lnTo>
                <a:lnTo>
                  <a:pt x="7965749" y="3340100"/>
                </a:lnTo>
                <a:lnTo>
                  <a:pt x="8700154" y="3149600"/>
                </a:lnTo>
                <a:lnTo>
                  <a:pt x="8749799" y="3149600"/>
                </a:lnTo>
                <a:lnTo>
                  <a:pt x="8899211" y="3111500"/>
                </a:lnTo>
                <a:lnTo>
                  <a:pt x="8949172" y="3111500"/>
                </a:lnTo>
                <a:lnTo>
                  <a:pt x="8999210" y="3098800"/>
                </a:lnTo>
                <a:lnTo>
                  <a:pt x="9049324" y="3098800"/>
                </a:lnTo>
                <a:lnTo>
                  <a:pt x="9149777" y="3073400"/>
                </a:lnTo>
                <a:lnTo>
                  <a:pt x="9200113" y="3073400"/>
                </a:lnTo>
                <a:lnTo>
                  <a:pt x="9250523" y="3060700"/>
                </a:lnTo>
                <a:lnTo>
                  <a:pt x="9351555" y="3060700"/>
                </a:lnTo>
                <a:lnTo>
                  <a:pt x="9402177" y="3048000"/>
                </a:lnTo>
                <a:lnTo>
                  <a:pt x="9452868" y="3048000"/>
                </a:lnTo>
                <a:lnTo>
                  <a:pt x="9503626" y="3035300"/>
                </a:lnTo>
                <a:lnTo>
                  <a:pt x="9558996" y="3035300"/>
                </a:lnTo>
                <a:lnTo>
                  <a:pt x="9558996" y="0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5A56444-D069-557E-5DE0-5CD2C09C88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83288" y="6356350"/>
            <a:ext cx="4114800" cy="365125"/>
          </a:xfrm>
        </p:spPr>
        <p:txBody>
          <a:bodyPr/>
          <a:lstStyle/>
          <a:p>
            <a:r>
              <a:rPr lang="it-IT"/>
              <a:t>Copyright © Mercuri International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18B702-295E-A298-F631-8168ADCCF2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12671" y="6356350"/>
            <a:ext cx="391998" cy="365125"/>
          </a:xfrm>
        </p:spPr>
        <p:txBody>
          <a:bodyPr/>
          <a:lstStyle/>
          <a:p>
            <a:fld id="{F12292EA-28FA-4C74-AB9E-A0B5818E095E}" type="slidenum">
              <a:rPr lang="it-IT" smtClean="0"/>
              <a:t>‹N°›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392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au titr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1608B52C-6477-4F49-96AF-2A2F509D9CC6}" type="datetime1">
              <a:rPr lang="fr-FR" noProof="0" smtClean="0"/>
              <a:t>27/10/2026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69E57DC2-970A-4B3E-BB1C-7A09969E49DF}" type="slidenum">
              <a:rPr lang="fr-FR" noProof="0" smtClean="0"/>
              <a:pPr rtl="0"/>
              <a:t>‹N°›</a:t>
            </a:fld>
            <a:endParaRPr lang="fr-FR" noProof="0"/>
          </a:p>
        </p:txBody>
      </p:sp>
      <p:sp>
        <p:nvSpPr>
          <p:cNvPr id="9" name="Rectangle 8" title="Barre latérale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6C94072-1B34-48FB-9A9C-5A9A0FFC8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52" name="Forme libre : Forme 51">
            <a:extLst>
              <a:ext uri="{FF2B5EF4-FFF2-40B4-BE49-F238E27FC236}">
                <a16:creationId xmlns:a16="http://schemas.microsoft.com/office/drawing/2014/main" id="{A5019358-4900-4555-99FF-EF6AE90B8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70146" y="3710250"/>
            <a:ext cx="2131466" cy="1830903"/>
          </a:xfrm>
          <a:custGeom>
            <a:avLst/>
            <a:gdLst>
              <a:gd name="connsiteX0" fmla="*/ 2308583 w 2308583"/>
              <a:gd name="connsiteY0" fmla="*/ 1983044 h 1983044"/>
              <a:gd name="connsiteX1" fmla="*/ 462 w 2308583"/>
              <a:gd name="connsiteY1" fmla="*/ 1983044 h 1983044"/>
              <a:gd name="connsiteX2" fmla="*/ 0 w 2308583"/>
              <a:gd name="connsiteY2" fmla="*/ 1711185 h 1983044"/>
              <a:gd name="connsiteX3" fmla="*/ 2022607 w 2308583"/>
              <a:gd name="connsiteY3" fmla="*/ 1712117 h 1983044"/>
              <a:gd name="connsiteX4" fmla="*/ 2022607 w 2308583"/>
              <a:gd name="connsiteY4" fmla="*/ 0 h 1983044"/>
              <a:gd name="connsiteX5" fmla="*/ 2308583 w 2308583"/>
              <a:gd name="connsiteY5" fmla="*/ 0 h 198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1983044">
                <a:moveTo>
                  <a:pt x="2308583" y="1983044"/>
                </a:moveTo>
                <a:lnTo>
                  <a:pt x="462" y="1983044"/>
                </a:lnTo>
                <a:cubicBezTo>
                  <a:pt x="-462" y="1889214"/>
                  <a:pt x="923" y="1805015"/>
                  <a:pt x="0" y="1711185"/>
                </a:cubicBezTo>
                <a:lnTo>
                  <a:pt x="2022607" y="1712117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5941F3-0256-4E90-BBBC-5A6EDEB8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004" y="4166755"/>
            <a:ext cx="5607908" cy="2040066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347C47-EF1D-4B02-906B-219155AD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0135" y="4625701"/>
            <a:ext cx="5268177" cy="651180"/>
          </a:xfrm>
        </p:spPr>
        <p:txBody>
          <a:bodyPr rtlCol="0">
            <a:normAutofit/>
          </a:bodyPr>
          <a:lstStyle/>
          <a:p>
            <a:pPr algn="l"/>
            <a:r>
              <a:rPr lang="fr-FR" sz="3600" dirty="0">
                <a:solidFill>
                  <a:srgbClr val="FFFFFF"/>
                </a:solidFill>
              </a:rPr>
              <a:t>ROYAL casino</a:t>
            </a:r>
          </a:p>
        </p:txBody>
      </p:sp>
      <p:pic>
        <p:nvPicPr>
          <p:cNvPr id="10" name="Image 9" descr="The image depicts a glamorous casino setting with a poker face, playing cards, and a roulette wheel, all set against a backdrop of shimmering, futuristic graphics.&#10;&#10;Le contenu généré par l’IA peut être incorrect.">
            <a:extLst>
              <a:ext uri="{FF2B5EF4-FFF2-40B4-BE49-F238E27FC236}">
                <a16:creationId xmlns:a16="http://schemas.microsoft.com/office/drawing/2014/main" id="{A1B96E35-470E-64A1-6A10-9FE668D78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5905" cy="6858000"/>
          </a:xfrm>
          <a:prstGeom prst="rect">
            <a:avLst/>
          </a:prstGeom>
        </p:spPr>
      </p:pic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432212D-A104-B025-2231-A78BB486743B}"/>
              </a:ext>
            </a:extLst>
          </p:cNvPr>
          <p:cNvSpPr/>
          <p:nvPr/>
        </p:nvSpPr>
        <p:spPr>
          <a:xfrm>
            <a:off x="6524689" y="4267131"/>
            <a:ext cx="5559269" cy="2295594"/>
          </a:xfrm>
          <a:prstGeom prst="roundRect">
            <a:avLst/>
          </a:prstGeom>
          <a:solidFill>
            <a:srgbClr val="7756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6A0527F-C5FD-4E9B-9F21-5D1FBA31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5781" y="5437461"/>
            <a:ext cx="5268177" cy="1125264"/>
          </a:xfrm>
        </p:spPr>
        <p:txBody>
          <a:bodyPr rtlCol="0">
            <a:normAutofit/>
          </a:bodyPr>
          <a:lstStyle/>
          <a:p>
            <a:pPr lvl="0" algn="l" hangingPunct="0"/>
            <a:r>
              <a:rPr lang="fr-FR" sz="1300" dirty="0">
                <a:solidFill>
                  <a:schemeClr val="bg2"/>
                </a:solidFill>
              </a:rPr>
              <a:t>CERBULESCU Luca 1G9</a:t>
            </a:r>
          </a:p>
          <a:p>
            <a:pPr lvl="0" algn="l" hangingPunct="0"/>
            <a:r>
              <a:rPr lang="fr-FR" sz="1300" dirty="0">
                <a:solidFill>
                  <a:schemeClr val="bg2"/>
                </a:solidFill>
              </a:rPr>
              <a:t>DEVIENNE Quentin 1G9</a:t>
            </a:r>
          </a:p>
          <a:p>
            <a:pPr lvl="0" algn="l" hangingPunct="0"/>
            <a:r>
              <a:rPr lang="fr-FR" sz="1300" dirty="0">
                <a:solidFill>
                  <a:schemeClr val="bg2"/>
                </a:solidFill>
              </a:rPr>
              <a:t>PELLETIER Noah 1G11 </a:t>
            </a:r>
          </a:p>
          <a:p>
            <a:pPr lvl="0" algn="l" hangingPunct="0"/>
            <a:r>
              <a:rPr lang="fr-FR" sz="1300" dirty="0">
                <a:solidFill>
                  <a:schemeClr val="bg2"/>
                </a:solidFill>
              </a:rPr>
              <a:t>GOVIGNON Kenny 1G11 </a:t>
            </a:r>
            <a:endParaRPr lang="fr-FR" sz="1200" dirty="0">
              <a:solidFill>
                <a:schemeClr val="bg2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D7506B5-4A95-1AF1-9854-76161B4D3ABA}"/>
              </a:ext>
            </a:extLst>
          </p:cNvPr>
          <p:cNvSpPr txBox="1"/>
          <p:nvPr/>
        </p:nvSpPr>
        <p:spPr>
          <a:xfrm>
            <a:off x="6735879" y="4465121"/>
            <a:ext cx="3789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bg2"/>
                </a:solidFill>
              </a:rPr>
              <a:t>ROYAL CASINO</a:t>
            </a:r>
          </a:p>
        </p:txBody>
      </p:sp>
    </p:spTree>
    <p:extLst>
      <p:ext uri="{BB962C8B-B14F-4D97-AF65-F5344CB8AC3E}">
        <p14:creationId xmlns:p14="http://schemas.microsoft.com/office/powerpoint/2010/main" val="745576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E2B45-589B-D295-8557-2D35F21EAEB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72052" y="276031"/>
            <a:ext cx="10820400" cy="1098550"/>
          </a:xfrm>
        </p:spPr>
        <p:txBody>
          <a:bodyPr>
            <a:normAutofit/>
          </a:bodyPr>
          <a:lstStyle/>
          <a:p>
            <a:r>
              <a:rPr lang="fr-FR" dirty="0"/>
              <a:t>Sommaire</a:t>
            </a:r>
            <a:endParaRPr lang="it-IT" dirty="0"/>
          </a:p>
        </p:txBody>
      </p:sp>
      <p:sp>
        <p:nvSpPr>
          <p:cNvPr id="4" name="Forme libre : forme 14">
            <a:extLst>
              <a:ext uri="{FF2B5EF4-FFF2-40B4-BE49-F238E27FC236}">
                <a16:creationId xmlns:a16="http://schemas.microsoft.com/office/drawing/2014/main" id="{356D0381-7DEF-F3B1-BBAF-CA2FBF248D4B}"/>
              </a:ext>
            </a:extLst>
          </p:cNvPr>
          <p:cNvSpPr/>
          <p:nvPr/>
        </p:nvSpPr>
        <p:spPr>
          <a:xfrm>
            <a:off x="1118264" y="1514512"/>
            <a:ext cx="4282035" cy="1221428"/>
          </a:xfrm>
          <a:custGeom>
            <a:avLst/>
            <a:gdLst>
              <a:gd name="connsiteX0" fmla="*/ 0 w 2452791"/>
              <a:gd name="connsiteY0" fmla="*/ 0 h 624840"/>
              <a:gd name="connsiteX1" fmla="*/ 1602738 w 2452791"/>
              <a:gd name="connsiteY1" fmla="*/ 0 h 624840"/>
              <a:gd name="connsiteX2" fmla="*/ 2058351 w 2452791"/>
              <a:gd name="connsiteY2" fmla="*/ 0 h 624840"/>
              <a:gd name="connsiteX3" fmla="*/ 2140371 w 2452791"/>
              <a:gd name="connsiteY3" fmla="*/ 0 h 624840"/>
              <a:gd name="connsiteX4" fmla="*/ 2452791 w 2452791"/>
              <a:gd name="connsiteY4" fmla="*/ 312420 h 624840"/>
              <a:gd name="connsiteX5" fmla="*/ 2452791 w 2452791"/>
              <a:gd name="connsiteY5" fmla="*/ 624840 h 624840"/>
              <a:gd name="connsiteX6" fmla="*/ 1767120 w 2452791"/>
              <a:gd name="connsiteY6" fmla="*/ 624840 h 624840"/>
              <a:gd name="connsiteX7" fmla="*/ 1602738 w 2452791"/>
              <a:gd name="connsiteY7" fmla="*/ 624840 h 624840"/>
              <a:gd name="connsiteX8" fmla="*/ 291231 w 2452791"/>
              <a:gd name="connsiteY8" fmla="*/ 624840 h 624840"/>
              <a:gd name="connsiteX9" fmla="*/ 0 w 2452791"/>
              <a:gd name="connsiteY9" fmla="*/ 312420 h 62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52791" h="624840">
                <a:moveTo>
                  <a:pt x="0" y="0"/>
                </a:moveTo>
                <a:lnTo>
                  <a:pt x="1602738" y="0"/>
                </a:lnTo>
                <a:lnTo>
                  <a:pt x="2058351" y="0"/>
                </a:lnTo>
                <a:lnTo>
                  <a:pt x="2140371" y="0"/>
                </a:lnTo>
                <a:cubicBezTo>
                  <a:pt x="2312916" y="0"/>
                  <a:pt x="2452791" y="139875"/>
                  <a:pt x="2452791" y="312420"/>
                </a:cubicBezTo>
                <a:lnTo>
                  <a:pt x="2452791" y="624840"/>
                </a:lnTo>
                <a:lnTo>
                  <a:pt x="1767120" y="624840"/>
                </a:lnTo>
                <a:lnTo>
                  <a:pt x="1602738" y="624840"/>
                </a:lnTo>
                <a:lnTo>
                  <a:pt x="291231" y="624840"/>
                </a:lnTo>
                <a:cubicBezTo>
                  <a:pt x="130388" y="624840"/>
                  <a:pt x="0" y="484965"/>
                  <a:pt x="0" y="3124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2400" dirty="0"/>
              <a:t>Présentation du projet</a:t>
            </a:r>
            <a:endParaRPr lang="it-IT" sz="2400" dirty="0"/>
          </a:p>
        </p:txBody>
      </p:sp>
      <p:sp>
        <p:nvSpPr>
          <p:cNvPr id="5" name="Larme 15">
            <a:extLst>
              <a:ext uri="{FF2B5EF4-FFF2-40B4-BE49-F238E27FC236}">
                <a16:creationId xmlns:a16="http://schemas.microsoft.com/office/drawing/2014/main" id="{CA834B77-12F7-E270-1389-EF96B44CBA25}"/>
              </a:ext>
            </a:extLst>
          </p:cNvPr>
          <p:cNvSpPr/>
          <p:nvPr/>
        </p:nvSpPr>
        <p:spPr>
          <a:xfrm rot="10800000">
            <a:off x="5650057" y="1703112"/>
            <a:ext cx="857956" cy="844231"/>
          </a:xfrm>
          <a:prstGeom prst="teardrop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Forme libre : forme 23">
            <a:extLst>
              <a:ext uri="{FF2B5EF4-FFF2-40B4-BE49-F238E27FC236}">
                <a16:creationId xmlns:a16="http://schemas.microsoft.com/office/drawing/2014/main" id="{24C41FD8-E2FE-730B-1615-77D0C069B199}"/>
              </a:ext>
            </a:extLst>
          </p:cNvPr>
          <p:cNvSpPr/>
          <p:nvPr/>
        </p:nvSpPr>
        <p:spPr>
          <a:xfrm>
            <a:off x="1118264" y="3098908"/>
            <a:ext cx="4282035" cy="1221428"/>
          </a:xfrm>
          <a:custGeom>
            <a:avLst/>
            <a:gdLst>
              <a:gd name="connsiteX0" fmla="*/ 0 w 2452791"/>
              <a:gd name="connsiteY0" fmla="*/ 0 h 624840"/>
              <a:gd name="connsiteX1" fmla="*/ 1602738 w 2452791"/>
              <a:gd name="connsiteY1" fmla="*/ 0 h 624840"/>
              <a:gd name="connsiteX2" fmla="*/ 2058351 w 2452791"/>
              <a:gd name="connsiteY2" fmla="*/ 0 h 624840"/>
              <a:gd name="connsiteX3" fmla="*/ 2140371 w 2452791"/>
              <a:gd name="connsiteY3" fmla="*/ 0 h 624840"/>
              <a:gd name="connsiteX4" fmla="*/ 2452791 w 2452791"/>
              <a:gd name="connsiteY4" fmla="*/ 312420 h 624840"/>
              <a:gd name="connsiteX5" fmla="*/ 2452791 w 2452791"/>
              <a:gd name="connsiteY5" fmla="*/ 624840 h 624840"/>
              <a:gd name="connsiteX6" fmla="*/ 1767120 w 2452791"/>
              <a:gd name="connsiteY6" fmla="*/ 624840 h 624840"/>
              <a:gd name="connsiteX7" fmla="*/ 1602738 w 2452791"/>
              <a:gd name="connsiteY7" fmla="*/ 624840 h 624840"/>
              <a:gd name="connsiteX8" fmla="*/ 291231 w 2452791"/>
              <a:gd name="connsiteY8" fmla="*/ 624840 h 624840"/>
              <a:gd name="connsiteX9" fmla="*/ 0 w 2452791"/>
              <a:gd name="connsiteY9" fmla="*/ 312420 h 62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52791" h="624840">
                <a:moveTo>
                  <a:pt x="0" y="0"/>
                </a:moveTo>
                <a:lnTo>
                  <a:pt x="1602738" y="0"/>
                </a:lnTo>
                <a:lnTo>
                  <a:pt x="2058351" y="0"/>
                </a:lnTo>
                <a:lnTo>
                  <a:pt x="2140371" y="0"/>
                </a:lnTo>
                <a:cubicBezTo>
                  <a:pt x="2312916" y="0"/>
                  <a:pt x="2452791" y="139875"/>
                  <a:pt x="2452791" y="312420"/>
                </a:cubicBezTo>
                <a:lnTo>
                  <a:pt x="2452791" y="624840"/>
                </a:lnTo>
                <a:lnTo>
                  <a:pt x="1767120" y="624840"/>
                </a:lnTo>
                <a:lnTo>
                  <a:pt x="1602738" y="624840"/>
                </a:lnTo>
                <a:lnTo>
                  <a:pt x="291231" y="624840"/>
                </a:lnTo>
                <a:cubicBezTo>
                  <a:pt x="130388" y="624840"/>
                  <a:pt x="0" y="484965"/>
                  <a:pt x="0" y="31242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2400" dirty="0"/>
              <a:t>Menu principal</a:t>
            </a:r>
            <a:endParaRPr lang="it-IT" sz="2400" dirty="0"/>
          </a:p>
        </p:txBody>
      </p:sp>
      <p:sp>
        <p:nvSpPr>
          <p:cNvPr id="9" name="Forme libre : forme 28">
            <a:extLst>
              <a:ext uri="{FF2B5EF4-FFF2-40B4-BE49-F238E27FC236}">
                <a16:creationId xmlns:a16="http://schemas.microsoft.com/office/drawing/2014/main" id="{4FDBC099-E6F6-5942-58DB-B8F8A251AE08}"/>
              </a:ext>
            </a:extLst>
          </p:cNvPr>
          <p:cNvSpPr/>
          <p:nvPr/>
        </p:nvSpPr>
        <p:spPr>
          <a:xfrm>
            <a:off x="1118264" y="4683305"/>
            <a:ext cx="4282035" cy="1221428"/>
          </a:xfrm>
          <a:custGeom>
            <a:avLst/>
            <a:gdLst>
              <a:gd name="connsiteX0" fmla="*/ 0 w 2452791"/>
              <a:gd name="connsiteY0" fmla="*/ 0 h 624840"/>
              <a:gd name="connsiteX1" fmla="*/ 1602738 w 2452791"/>
              <a:gd name="connsiteY1" fmla="*/ 0 h 624840"/>
              <a:gd name="connsiteX2" fmla="*/ 2058351 w 2452791"/>
              <a:gd name="connsiteY2" fmla="*/ 0 h 624840"/>
              <a:gd name="connsiteX3" fmla="*/ 2140371 w 2452791"/>
              <a:gd name="connsiteY3" fmla="*/ 0 h 624840"/>
              <a:gd name="connsiteX4" fmla="*/ 2452791 w 2452791"/>
              <a:gd name="connsiteY4" fmla="*/ 312420 h 624840"/>
              <a:gd name="connsiteX5" fmla="*/ 2452791 w 2452791"/>
              <a:gd name="connsiteY5" fmla="*/ 624840 h 624840"/>
              <a:gd name="connsiteX6" fmla="*/ 1767120 w 2452791"/>
              <a:gd name="connsiteY6" fmla="*/ 624840 h 624840"/>
              <a:gd name="connsiteX7" fmla="*/ 1602738 w 2452791"/>
              <a:gd name="connsiteY7" fmla="*/ 624840 h 624840"/>
              <a:gd name="connsiteX8" fmla="*/ 291231 w 2452791"/>
              <a:gd name="connsiteY8" fmla="*/ 624840 h 624840"/>
              <a:gd name="connsiteX9" fmla="*/ 0 w 2452791"/>
              <a:gd name="connsiteY9" fmla="*/ 312420 h 62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52791" h="624840">
                <a:moveTo>
                  <a:pt x="0" y="0"/>
                </a:moveTo>
                <a:lnTo>
                  <a:pt x="1602738" y="0"/>
                </a:lnTo>
                <a:lnTo>
                  <a:pt x="2058351" y="0"/>
                </a:lnTo>
                <a:lnTo>
                  <a:pt x="2140371" y="0"/>
                </a:lnTo>
                <a:cubicBezTo>
                  <a:pt x="2312916" y="0"/>
                  <a:pt x="2452791" y="139875"/>
                  <a:pt x="2452791" y="312420"/>
                </a:cubicBezTo>
                <a:lnTo>
                  <a:pt x="2452791" y="624840"/>
                </a:lnTo>
                <a:lnTo>
                  <a:pt x="1767120" y="624840"/>
                </a:lnTo>
                <a:lnTo>
                  <a:pt x="1602738" y="624840"/>
                </a:lnTo>
                <a:lnTo>
                  <a:pt x="291231" y="624840"/>
                </a:lnTo>
                <a:cubicBezTo>
                  <a:pt x="130388" y="624840"/>
                  <a:pt x="0" y="484965"/>
                  <a:pt x="0" y="31242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2400" dirty="0"/>
              <a:t>Roulette</a:t>
            </a:r>
            <a:endParaRPr lang="it-IT" sz="2400" dirty="0"/>
          </a:p>
        </p:txBody>
      </p:sp>
      <p:sp>
        <p:nvSpPr>
          <p:cNvPr id="11" name="ZoneTexte 40">
            <a:extLst>
              <a:ext uri="{FF2B5EF4-FFF2-40B4-BE49-F238E27FC236}">
                <a16:creationId xmlns:a16="http://schemas.microsoft.com/office/drawing/2014/main" id="{06E288B7-68AB-1244-7E16-E591356CCB2E}"/>
              </a:ext>
            </a:extLst>
          </p:cNvPr>
          <p:cNvSpPr txBox="1"/>
          <p:nvPr/>
        </p:nvSpPr>
        <p:spPr>
          <a:xfrm flipH="1">
            <a:off x="5819009" y="1760642"/>
            <a:ext cx="498855" cy="76944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it-IT" sz="4400" b="1">
                <a:latin typeface="+mj-lt"/>
              </a:rPr>
              <a:t>1</a:t>
            </a:r>
            <a:endParaRPr lang="it-IT" sz="4400" b="1" dirty="0">
              <a:latin typeface="+mj-lt"/>
            </a:endParaRPr>
          </a:p>
        </p:txBody>
      </p:sp>
      <p:sp>
        <p:nvSpPr>
          <p:cNvPr id="12" name="ZoneTexte 47">
            <a:extLst>
              <a:ext uri="{FF2B5EF4-FFF2-40B4-BE49-F238E27FC236}">
                <a16:creationId xmlns:a16="http://schemas.microsoft.com/office/drawing/2014/main" id="{24EBF024-8FF0-DA13-B823-C4F28D1BDB92}"/>
              </a:ext>
            </a:extLst>
          </p:cNvPr>
          <p:cNvSpPr txBox="1"/>
          <p:nvPr/>
        </p:nvSpPr>
        <p:spPr>
          <a:xfrm flipH="1">
            <a:off x="5819009" y="3330079"/>
            <a:ext cx="498855" cy="76944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it-IT" sz="4400" b="1">
                <a:latin typeface="+mj-lt"/>
              </a:rPr>
              <a:t>2</a:t>
            </a:r>
            <a:endParaRPr lang="it-IT" sz="4400" b="1" dirty="0">
              <a:latin typeface="+mj-lt"/>
            </a:endParaRPr>
          </a:p>
        </p:txBody>
      </p:sp>
      <p:sp>
        <p:nvSpPr>
          <p:cNvPr id="13" name="ZoneTexte 54">
            <a:extLst>
              <a:ext uri="{FF2B5EF4-FFF2-40B4-BE49-F238E27FC236}">
                <a16:creationId xmlns:a16="http://schemas.microsoft.com/office/drawing/2014/main" id="{C82D57D6-5CC8-2FB6-579F-6B49F94191CD}"/>
              </a:ext>
            </a:extLst>
          </p:cNvPr>
          <p:cNvSpPr txBox="1"/>
          <p:nvPr/>
        </p:nvSpPr>
        <p:spPr>
          <a:xfrm flipH="1">
            <a:off x="5819009" y="4926995"/>
            <a:ext cx="498855" cy="76944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it-IT" sz="4400" b="1">
                <a:latin typeface="+mj-lt"/>
              </a:rPr>
              <a:t>3</a:t>
            </a:r>
            <a:endParaRPr lang="it-IT" sz="4400" b="1" dirty="0">
              <a:latin typeface="+mj-lt"/>
            </a:endParaRPr>
          </a:p>
        </p:txBody>
      </p:sp>
      <p:sp>
        <p:nvSpPr>
          <p:cNvPr id="14" name="Larme 61">
            <a:extLst>
              <a:ext uri="{FF2B5EF4-FFF2-40B4-BE49-F238E27FC236}">
                <a16:creationId xmlns:a16="http://schemas.microsoft.com/office/drawing/2014/main" id="{F33D8B57-1D4A-864D-AAFF-A2770C19B7FC}"/>
              </a:ext>
            </a:extLst>
          </p:cNvPr>
          <p:cNvSpPr/>
          <p:nvPr/>
        </p:nvSpPr>
        <p:spPr>
          <a:xfrm rot="10800000">
            <a:off x="5650057" y="3298264"/>
            <a:ext cx="857956" cy="844231"/>
          </a:xfrm>
          <a:prstGeom prst="teardrop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Larme 62">
            <a:extLst>
              <a:ext uri="{FF2B5EF4-FFF2-40B4-BE49-F238E27FC236}">
                <a16:creationId xmlns:a16="http://schemas.microsoft.com/office/drawing/2014/main" id="{23F48956-9345-4BF9-95B6-73405EB590B1}"/>
              </a:ext>
            </a:extLst>
          </p:cNvPr>
          <p:cNvSpPr/>
          <p:nvPr/>
        </p:nvSpPr>
        <p:spPr>
          <a:xfrm rot="10800000">
            <a:off x="5650057" y="4816809"/>
            <a:ext cx="857956" cy="844231"/>
          </a:xfrm>
          <a:prstGeom prst="teardrop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Forme libre : forme 5122">
            <a:extLst>
              <a:ext uri="{FF2B5EF4-FFF2-40B4-BE49-F238E27FC236}">
                <a16:creationId xmlns:a16="http://schemas.microsoft.com/office/drawing/2014/main" id="{68CC4B67-1532-2523-1AFC-F8A0D1099382}"/>
              </a:ext>
            </a:extLst>
          </p:cNvPr>
          <p:cNvSpPr/>
          <p:nvPr/>
        </p:nvSpPr>
        <p:spPr>
          <a:xfrm flipH="1">
            <a:off x="7740607" y="1514512"/>
            <a:ext cx="4282035" cy="1221428"/>
          </a:xfrm>
          <a:custGeom>
            <a:avLst/>
            <a:gdLst>
              <a:gd name="connsiteX0" fmla="*/ 0 w 2452791"/>
              <a:gd name="connsiteY0" fmla="*/ 0 h 624840"/>
              <a:gd name="connsiteX1" fmla="*/ 1602738 w 2452791"/>
              <a:gd name="connsiteY1" fmla="*/ 0 h 624840"/>
              <a:gd name="connsiteX2" fmla="*/ 2058351 w 2452791"/>
              <a:gd name="connsiteY2" fmla="*/ 0 h 624840"/>
              <a:gd name="connsiteX3" fmla="*/ 2140371 w 2452791"/>
              <a:gd name="connsiteY3" fmla="*/ 0 h 624840"/>
              <a:gd name="connsiteX4" fmla="*/ 2452791 w 2452791"/>
              <a:gd name="connsiteY4" fmla="*/ 312420 h 624840"/>
              <a:gd name="connsiteX5" fmla="*/ 2452791 w 2452791"/>
              <a:gd name="connsiteY5" fmla="*/ 624840 h 624840"/>
              <a:gd name="connsiteX6" fmla="*/ 1767120 w 2452791"/>
              <a:gd name="connsiteY6" fmla="*/ 624840 h 624840"/>
              <a:gd name="connsiteX7" fmla="*/ 1602738 w 2452791"/>
              <a:gd name="connsiteY7" fmla="*/ 624840 h 624840"/>
              <a:gd name="connsiteX8" fmla="*/ 291231 w 2452791"/>
              <a:gd name="connsiteY8" fmla="*/ 624840 h 624840"/>
              <a:gd name="connsiteX9" fmla="*/ 0 w 2452791"/>
              <a:gd name="connsiteY9" fmla="*/ 312420 h 62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52791" h="624840">
                <a:moveTo>
                  <a:pt x="0" y="0"/>
                </a:moveTo>
                <a:lnTo>
                  <a:pt x="1602738" y="0"/>
                </a:lnTo>
                <a:lnTo>
                  <a:pt x="2058351" y="0"/>
                </a:lnTo>
                <a:lnTo>
                  <a:pt x="2140371" y="0"/>
                </a:lnTo>
                <a:cubicBezTo>
                  <a:pt x="2312916" y="0"/>
                  <a:pt x="2452791" y="139875"/>
                  <a:pt x="2452791" y="312420"/>
                </a:cubicBezTo>
                <a:lnTo>
                  <a:pt x="2452791" y="624840"/>
                </a:lnTo>
                <a:lnTo>
                  <a:pt x="1767120" y="624840"/>
                </a:lnTo>
                <a:lnTo>
                  <a:pt x="1602738" y="624840"/>
                </a:lnTo>
                <a:lnTo>
                  <a:pt x="291231" y="624840"/>
                </a:lnTo>
                <a:cubicBezTo>
                  <a:pt x="130388" y="624840"/>
                  <a:pt x="0" y="484965"/>
                  <a:pt x="0" y="31242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2400" dirty="0"/>
              <a:t>Machine à sous</a:t>
            </a:r>
            <a:endParaRPr lang="it-IT" sz="2400" dirty="0"/>
          </a:p>
        </p:txBody>
      </p:sp>
      <p:sp>
        <p:nvSpPr>
          <p:cNvPr id="18" name="Larme 5123">
            <a:extLst>
              <a:ext uri="{FF2B5EF4-FFF2-40B4-BE49-F238E27FC236}">
                <a16:creationId xmlns:a16="http://schemas.microsoft.com/office/drawing/2014/main" id="{E04AF75B-2D7C-48AF-DEA0-47AC5B056928}"/>
              </a:ext>
            </a:extLst>
          </p:cNvPr>
          <p:cNvSpPr/>
          <p:nvPr/>
        </p:nvSpPr>
        <p:spPr>
          <a:xfrm rot="10800000" flipH="1">
            <a:off x="6632893" y="1703112"/>
            <a:ext cx="857956" cy="844231"/>
          </a:xfrm>
          <a:prstGeom prst="teardrop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Forme libre : forme 5125">
            <a:extLst>
              <a:ext uri="{FF2B5EF4-FFF2-40B4-BE49-F238E27FC236}">
                <a16:creationId xmlns:a16="http://schemas.microsoft.com/office/drawing/2014/main" id="{7E2E91DB-D564-C498-F924-7D16843BD09C}"/>
              </a:ext>
            </a:extLst>
          </p:cNvPr>
          <p:cNvSpPr/>
          <p:nvPr/>
        </p:nvSpPr>
        <p:spPr>
          <a:xfrm flipH="1">
            <a:off x="7740607" y="3098908"/>
            <a:ext cx="4282035" cy="1221428"/>
          </a:xfrm>
          <a:custGeom>
            <a:avLst/>
            <a:gdLst>
              <a:gd name="connsiteX0" fmla="*/ 0 w 2452791"/>
              <a:gd name="connsiteY0" fmla="*/ 0 h 624840"/>
              <a:gd name="connsiteX1" fmla="*/ 1602738 w 2452791"/>
              <a:gd name="connsiteY1" fmla="*/ 0 h 624840"/>
              <a:gd name="connsiteX2" fmla="*/ 2058351 w 2452791"/>
              <a:gd name="connsiteY2" fmla="*/ 0 h 624840"/>
              <a:gd name="connsiteX3" fmla="*/ 2140371 w 2452791"/>
              <a:gd name="connsiteY3" fmla="*/ 0 h 624840"/>
              <a:gd name="connsiteX4" fmla="*/ 2452791 w 2452791"/>
              <a:gd name="connsiteY4" fmla="*/ 312420 h 624840"/>
              <a:gd name="connsiteX5" fmla="*/ 2452791 w 2452791"/>
              <a:gd name="connsiteY5" fmla="*/ 624840 h 624840"/>
              <a:gd name="connsiteX6" fmla="*/ 1767120 w 2452791"/>
              <a:gd name="connsiteY6" fmla="*/ 624840 h 624840"/>
              <a:gd name="connsiteX7" fmla="*/ 1602738 w 2452791"/>
              <a:gd name="connsiteY7" fmla="*/ 624840 h 624840"/>
              <a:gd name="connsiteX8" fmla="*/ 291231 w 2452791"/>
              <a:gd name="connsiteY8" fmla="*/ 624840 h 624840"/>
              <a:gd name="connsiteX9" fmla="*/ 0 w 2452791"/>
              <a:gd name="connsiteY9" fmla="*/ 312420 h 62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52791" h="624840">
                <a:moveTo>
                  <a:pt x="0" y="0"/>
                </a:moveTo>
                <a:lnTo>
                  <a:pt x="1602738" y="0"/>
                </a:lnTo>
                <a:lnTo>
                  <a:pt x="2058351" y="0"/>
                </a:lnTo>
                <a:lnTo>
                  <a:pt x="2140371" y="0"/>
                </a:lnTo>
                <a:cubicBezTo>
                  <a:pt x="2312916" y="0"/>
                  <a:pt x="2452791" y="139875"/>
                  <a:pt x="2452791" y="312420"/>
                </a:cubicBezTo>
                <a:lnTo>
                  <a:pt x="2452791" y="624840"/>
                </a:lnTo>
                <a:lnTo>
                  <a:pt x="1767120" y="624840"/>
                </a:lnTo>
                <a:lnTo>
                  <a:pt x="1602738" y="624840"/>
                </a:lnTo>
                <a:lnTo>
                  <a:pt x="291231" y="624840"/>
                </a:lnTo>
                <a:cubicBezTo>
                  <a:pt x="130388" y="624840"/>
                  <a:pt x="0" y="484965"/>
                  <a:pt x="0" y="31242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2400" dirty="0"/>
              <a:t>Black Jack</a:t>
            </a:r>
            <a:endParaRPr lang="it-IT" sz="2400" dirty="0"/>
          </a:p>
        </p:txBody>
      </p:sp>
      <p:sp>
        <p:nvSpPr>
          <p:cNvPr id="22" name="Forme libre : forme 5127">
            <a:extLst>
              <a:ext uri="{FF2B5EF4-FFF2-40B4-BE49-F238E27FC236}">
                <a16:creationId xmlns:a16="http://schemas.microsoft.com/office/drawing/2014/main" id="{D6D5A23C-5DA6-8576-5EB5-477A9750223B}"/>
              </a:ext>
            </a:extLst>
          </p:cNvPr>
          <p:cNvSpPr/>
          <p:nvPr/>
        </p:nvSpPr>
        <p:spPr>
          <a:xfrm flipH="1">
            <a:off x="7740607" y="4683305"/>
            <a:ext cx="4282035" cy="1221428"/>
          </a:xfrm>
          <a:custGeom>
            <a:avLst/>
            <a:gdLst>
              <a:gd name="connsiteX0" fmla="*/ 0 w 2452791"/>
              <a:gd name="connsiteY0" fmla="*/ 0 h 624840"/>
              <a:gd name="connsiteX1" fmla="*/ 1602738 w 2452791"/>
              <a:gd name="connsiteY1" fmla="*/ 0 h 624840"/>
              <a:gd name="connsiteX2" fmla="*/ 2058351 w 2452791"/>
              <a:gd name="connsiteY2" fmla="*/ 0 h 624840"/>
              <a:gd name="connsiteX3" fmla="*/ 2140371 w 2452791"/>
              <a:gd name="connsiteY3" fmla="*/ 0 h 624840"/>
              <a:gd name="connsiteX4" fmla="*/ 2452791 w 2452791"/>
              <a:gd name="connsiteY4" fmla="*/ 312420 h 624840"/>
              <a:gd name="connsiteX5" fmla="*/ 2452791 w 2452791"/>
              <a:gd name="connsiteY5" fmla="*/ 624840 h 624840"/>
              <a:gd name="connsiteX6" fmla="*/ 1767120 w 2452791"/>
              <a:gd name="connsiteY6" fmla="*/ 624840 h 624840"/>
              <a:gd name="connsiteX7" fmla="*/ 1602738 w 2452791"/>
              <a:gd name="connsiteY7" fmla="*/ 624840 h 624840"/>
              <a:gd name="connsiteX8" fmla="*/ 291231 w 2452791"/>
              <a:gd name="connsiteY8" fmla="*/ 624840 h 624840"/>
              <a:gd name="connsiteX9" fmla="*/ 0 w 2452791"/>
              <a:gd name="connsiteY9" fmla="*/ 312420 h 62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52791" h="624840">
                <a:moveTo>
                  <a:pt x="0" y="0"/>
                </a:moveTo>
                <a:lnTo>
                  <a:pt x="1602738" y="0"/>
                </a:lnTo>
                <a:lnTo>
                  <a:pt x="2058351" y="0"/>
                </a:lnTo>
                <a:lnTo>
                  <a:pt x="2140371" y="0"/>
                </a:lnTo>
                <a:cubicBezTo>
                  <a:pt x="2312916" y="0"/>
                  <a:pt x="2452791" y="139875"/>
                  <a:pt x="2452791" y="312420"/>
                </a:cubicBezTo>
                <a:lnTo>
                  <a:pt x="2452791" y="624840"/>
                </a:lnTo>
                <a:lnTo>
                  <a:pt x="1767120" y="624840"/>
                </a:lnTo>
                <a:lnTo>
                  <a:pt x="1602738" y="624840"/>
                </a:lnTo>
                <a:lnTo>
                  <a:pt x="291231" y="624840"/>
                </a:lnTo>
                <a:cubicBezTo>
                  <a:pt x="130388" y="624840"/>
                  <a:pt x="0" y="484965"/>
                  <a:pt x="0" y="31242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fr-FR" sz="2400" dirty="0"/>
              <a:t>Mise en commun</a:t>
            </a:r>
            <a:endParaRPr lang="it-IT" sz="2400" dirty="0"/>
          </a:p>
        </p:txBody>
      </p:sp>
      <p:sp>
        <p:nvSpPr>
          <p:cNvPr id="24" name="ZoneTexte 5129">
            <a:extLst>
              <a:ext uri="{FF2B5EF4-FFF2-40B4-BE49-F238E27FC236}">
                <a16:creationId xmlns:a16="http://schemas.microsoft.com/office/drawing/2014/main" id="{B3B42B6C-677F-26F2-DA75-009188F87F65}"/>
              </a:ext>
            </a:extLst>
          </p:cNvPr>
          <p:cNvSpPr txBox="1"/>
          <p:nvPr/>
        </p:nvSpPr>
        <p:spPr>
          <a:xfrm>
            <a:off x="6856705" y="1760642"/>
            <a:ext cx="498855" cy="76944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it-IT" sz="4400" b="1">
                <a:latin typeface="+mj-lt"/>
              </a:rPr>
              <a:t>4</a:t>
            </a:r>
            <a:endParaRPr lang="it-IT" sz="4400" b="1" dirty="0">
              <a:latin typeface="+mj-lt"/>
            </a:endParaRPr>
          </a:p>
        </p:txBody>
      </p:sp>
      <p:sp>
        <p:nvSpPr>
          <p:cNvPr id="25" name="ZoneTexte 5130">
            <a:extLst>
              <a:ext uri="{FF2B5EF4-FFF2-40B4-BE49-F238E27FC236}">
                <a16:creationId xmlns:a16="http://schemas.microsoft.com/office/drawing/2014/main" id="{5F83C850-4889-8923-7C0E-395BE0CC62A9}"/>
              </a:ext>
            </a:extLst>
          </p:cNvPr>
          <p:cNvSpPr txBox="1"/>
          <p:nvPr/>
        </p:nvSpPr>
        <p:spPr>
          <a:xfrm>
            <a:off x="6856705" y="3330079"/>
            <a:ext cx="498855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r>
              <a:rPr lang="it-IT" sz="4400" b="1">
                <a:latin typeface="+mj-lt"/>
              </a:rPr>
              <a:t>5</a:t>
            </a:r>
            <a:endParaRPr lang="it-IT" sz="4400" b="1" dirty="0">
              <a:latin typeface="+mj-lt"/>
            </a:endParaRPr>
          </a:p>
        </p:txBody>
      </p:sp>
      <p:sp>
        <p:nvSpPr>
          <p:cNvPr id="26" name="ZoneTexte 5131">
            <a:extLst>
              <a:ext uri="{FF2B5EF4-FFF2-40B4-BE49-F238E27FC236}">
                <a16:creationId xmlns:a16="http://schemas.microsoft.com/office/drawing/2014/main" id="{9E374DF9-CB22-F9D0-0C2B-C0BF97AF7BA2}"/>
              </a:ext>
            </a:extLst>
          </p:cNvPr>
          <p:cNvSpPr txBox="1"/>
          <p:nvPr/>
        </p:nvSpPr>
        <p:spPr>
          <a:xfrm>
            <a:off x="6856705" y="4926995"/>
            <a:ext cx="498855" cy="76944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it-IT" sz="4400" b="1">
                <a:latin typeface="+mj-lt"/>
              </a:rPr>
              <a:t>6</a:t>
            </a:r>
            <a:endParaRPr lang="it-IT" sz="4400" b="1" dirty="0">
              <a:latin typeface="+mj-lt"/>
            </a:endParaRPr>
          </a:p>
        </p:txBody>
      </p:sp>
      <p:sp>
        <p:nvSpPr>
          <p:cNvPr id="27" name="Larme 5132">
            <a:extLst>
              <a:ext uri="{FF2B5EF4-FFF2-40B4-BE49-F238E27FC236}">
                <a16:creationId xmlns:a16="http://schemas.microsoft.com/office/drawing/2014/main" id="{F7ADFE3E-5D48-81E4-DEC9-203EBADAEE95}"/>
              </a:ext>
            </a:extLst>
          </p:cNvPr>
          <p:cNvSpPr/>
          <p:nvPr/>
        </p:nvSpPr>
        <p:spPr>
          <a:xfrm rot="10800000" flipH="1">
            <a:off x="6632893" y="3298264"/>
            <a:ext cx="857956" cy="844231"/>
          </a:xfrm>
          <a:prstGeom prst="teardrop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8" name="Larme 5133">
            <a:extLst>
              <a:ext uri="{FF2B5EF4-FFF2-40B4-BE49-F238E27FC236}">
                <a16:creationId xmlns:a16="http://schemas.microsoft.com/office/drawing/2014/main" id="{E2320F97-0BD4-90DA-F962-E8F14759790A}"/>
              </a:ext>
            </a:extLst>
          </p:cNvPr>
          <p:cNvSpPr/>
          <p:nvPr/>
        </p:nvSpPr>
        <p:spPr>
          <a:xfrm rot="10800000" flipH="1">
            <a:off x="6632893" y="4816809"/>
            <a:ext cx="857956" cy="844231"/>
          </a:xfrm>
          <a:prstGeom prst="teardrop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09998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E4BAB-47E0-73C7-65DD-2A04F4F3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FA42FA00-22BA-DA6B-3C9F-2B24A758EB5B}"/>
              </a:ext>
            </a:extLst>
          </p:cNvPr>
          <p:cNvSpPr txBox="1"/>
          <p:nvPr/>
        </p:nvSpPr>
        <p:spPr>
          <a:xfrm>
            <a:off x="6753130" y="4421990"/>
            <a:ext cx="45474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/>
                </a:solidFill>
              </a:rPr>
              <a:t>Présentation du projet</a:t>
            </a:r>
          </a:p>
        </p:txBody>
      </p:sp>
    </p:spTree>
    <p:extLst>
      <p:ext uri="{BB962C8B-B14F-4D97-AF65-F5344CB8AC3E}">
        <p14:creationId xmlns:p14="http://schemas.microsoft.com/office/powerpoint/2010/main" val="3981604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9DC4-EA22-F92E-E0FD-F2E29C0C9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1C6485-7FD3-54EE-05BB-72E9E0ED8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Royal Casino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CF3142-A8C4-2866-8808-942D1A1FE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3139" y="1878402"/>
            <a:ext cx="9601200" cy="3581400"/>
          </a:xfrm>
        </p:spPr>
        <p:txBody>
          <a:bodyPr>
            <a:normAutofit/>
          </a:bodyPr>
          <a:lstStyle/>
          <a:p>
            <a:r>
              <a:rPr lang="fr-FR" dirty="0"/>
              <a:t>Notre projet consiste à développer un mini-casino jouable en local.</a:t>
            </a:r>
          </a:p>
          <a:p>
            <a:r>
              <a:rPr lang="fr-FR" dirty="0"/>
              <a:t>Chaque joueur dispose d’une quantité définie de monnaie virtuelle qu’il pourra utiliser pour participer aux différents jeux proposés.</a:t>
            </a:r>
          </a:p>
          <a:p>
            <a:r>
              <a:rPr lang="fr-FR" dirty="0"/>
              <a:t>Le mini-casino est composé de trois jeux :</a:t>
            </a:r>
          </a:p>
          <a:p>
            <a:pPr lvl="1"/>
            <a:r>
              <a:rPr lang="fr-FR" dirty="0"/>
              <a:t>une machine à sous</a:t>
            </a:r>
          </a:p>
          <a:p>
            <a:pPr lvl="1"/>
            <a:r>
              <a:rPr lang="fr-FR" dirty="0"/>
              <a:t>une roulette</a:t>
            </a:r>
          </a:p>
          <a:p>
            <a:pPr lvl="1"/>
            <a:r>
              <a:rPr lang="fr-FR" dirty="0"/>
              <a:t>une version revisitée du Black Jack</a:t>
            </a:r>
          </a:p>
          <a:p>
            <a:r>
              <a:rPr lang="fr-FR" dirty="0"/>
              <a:t>L’ensemble de l’interface et des éléments graphiques est réalisé directement en code avec l’aide de l’intelligence artificielle.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289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952BE-1500-F9B8-34DD-1FBE9997B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F455FF93-0BE1-5AF6-3151-3CE5233664D6}"/>
              </a:ext>
            </a:extLst>
          </p:cNvPr>
          <p:cNvSpPr txBox="1"/>
          <p:nvPr/>
        </p:nvSpPr>
        <p:spPr>
          <a:xfrm>
            <a:off x="6753131" y="4421990"/>
            <a:ext cx="3789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/>
                </a:solidFill>
              </a:rPr>
              <a:t>Menu principal</a:t>
            </a:r>
          </a:p>
        </p:txBody>
      </p:sp>
    </p:spTree>
    <p:extLst>
      <p:ext uri="{BB962C8B-B14F-4D97-AF65-F5344CB8AC3E}">
        <p14:creationId xmlns:p14="http://schemas.microsoft.com/office/powerpoint/2010/main" val="2462847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41D2-8A6E-A614-0E45-17A98A94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DDA849-9230-D99B-1009-492EA1DFA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11" y="113599"/>
            <a:ext cx="9601200" cy="1485900"/>
          </a:xfrm>
        </p:spPr>
        <p:txBody>
          <a:bodyPr/>
          <a:lstStyle/>
          <a:p>
            <a:r>
              <a:rPr lang="fr-FR" dirty="0"/>
              <a:t>Interface graphique du menu principal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01787F-3C3D-00B1-9D15-936B3A950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019" y="930934"/>
            <a:ext cx="4839419" cy="932372"/>
          </a:xfrm>
        </p:spPr>
        <p:txBody>
          <a:bodyPr/>
          <a:lstStyle/>
          <a:p>
            <a:pPr marL="0" indent="0">
              <a:buNone/>
            </a:pPr>
            <a:r>
              <a:rPr lang="fr-FR" i="1" dirty="0"/>
              <a:t>Création de l’interface graphique du menu principal et codage (167 lignes de code)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BE0E21BD-9730-FA0D-FDF5-531A3AD6E2F9}"/>
              </a:ext>
            </a:extLst>
          </p:cNvPr>
          <p:cNvSpPr txBox="1">
            <a:spLocks/>
          </p:cNvSpPr>
          <p:nvPr/>
        </p:nvSpPr>
        <p:spPr>
          <a:xfrm>
            <a:off x="877019" y="1863306"/>
            <a:ext cx="4914179" cy="4413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1800" b="1" dirty="0"/>
              <a:t>Points forts 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1200" b="1" dirty="0"/>
              <a:t>1. Création de la fenêtre et structure du menu</a:t>
            </a:r>
            <a:br>
              <a:rPr lang="fr-FR" sz="1200" dirty="0"/>
            </a:br>
            <a:r>
              <a:rPr lang="fr-FR" sz="1200" dirty="0"/>
              <a:t>J’ai créé la fenêtre avec </a:t>
            </a:r>
            <a:r>
              <a:rPr lang="fr-FR" sz="1200" dirty="0" err="1"/>
              <a:t>Tkinter</a:t>
            </a:r>
            <a:r>
              <a:rPr lang="fr-FR" sz="1200" dirty="0"/>
              <a:t> et organisé le menu sur un Canvas, en blocs clairs (cadre, lumières, titre, boutons).</a:t>
            </a:r>
            <a:br>
              <a:rPr lang="fr-FR" sz="1200" dirty="0"/>
            </a:br>
            <a:r>
              <a:rPr lang="fr-FR" sz="1200" i="1" dirty="0"/>
              <a:t>Ex. : </a:t>
            </a:r>
            <a:r>
              <a:rPr lang="fr-FR" sz="1200" i="1" dirty="0" err="1"/>
              <a:t>fenetre</a:t>
            </a:r>
            <a:r>
              <a:rPr lang="fr-FR" sz="1200" i="1" dirty="0"/>
              <a:t> = </a:t>
            </a:r>
            <a:r>
              <a:rPr lang="fr-FR" sz="1200" i="1" dirty="0" err="1"/>
              <a:t>tk.Tk</a:t>
            </a:r>
            <a:r>
              <a:rPr lang="fr-FR" sz="1200" i="1" dirty="0"/>
              <a:t>(), </a:t>
            </a:r>
            <a:r>
              <a:rPr lang="fr-FR" sz="1200" i="1" dirty="0" err="1"/>
              <a:t>canvas</a:t>
            </a:r>
            <a:r>
              <a:rPr lang="fr-FR" sz="1200" i="1" dirty="0"/>
              <a:t> = </a:t>
            </a:r>
            <a:r>
              <a:rPr lang="fr-FR" sz="1200" i="1" dirty="0" err="1"/>
              <a:t>tk.Canvas</a:t>
            </a:r>
            <a:r>
              <a:rPr lang="fr-FR" sz="1200" i="1" dirty="0"/>
              <a:t>(</a:t>
            </a:r>
            <a:r>
              <a:rPr lang="fr-FR" sz="1200" i="1" dirty="0" err="1"/>
              <a:t>fenetre</a:t>
            </a:r>
            <a:r>
              <a:rPr lang="fr-FR" sz="1200" i="1" dirty="0"/>
              <a:t>, </a:t>
            </a:r>
            <a:r>
              <a:rPr lang="fr-FR" sz="1200" i="1" dirty="0" err="1"/>
              <a:t>width</a:t>
            </a:r>
            <a:r>
              <a:rPr lang="fr-FR" sz="1200" i="1" dirty="0"/>
              <a:t>=LARGEUR, </a:t>
            </a:r>
            <a:r>
              <a:rPr lang="fr-FR" sz="1200" i="1" dirty="0" err="1"/>
              <a:t>height</a:t>
            </a:r>
            <a:r>
              <a:rPr lang="fr-FR" sz="1200" i="1" dirty="0"/>
              <a:t>=HAUTEUR, ...)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1200" b="1" dirty="0"/>
              <a:t>2. Affichage des boutons et des textes</a:t>
            </a:r>
            <a:br>
              <a:rPr lang="fr-FR" sz="1200" dirty="0"/>
            </a:br>
            <a:r>
              <a:rPr lang="fr-FR" sz="1200" dirty="0"/>
              <a:t>J’ai réalisé des boutons, un champ de saisie et des textes qui se mettent à jour selon les actions du joueur.</a:t>
            </a:r>
            <a:br>
              <a:rPr lang="fr-FR" sz="1200" dirty="0"/>
            </a:br>
            <a:r>
              <a:rPr lang="fr-FR" sz="1200" i="1" dirty="0"/>
              <a:t>Ex. :</a:t>
            </a:r>
            <a:r>
              <a:rPr lang="fr-FR" sz="1200" dirty="0"/>
              <a:t> la fonction </a:t>
            </a:r>
            <a:r>
              <a:rPr lang="fr-FR" sz="1200" dirty="0" err="1"/>
              <a:t>creer_bouton</a:t>
            </a:r>
            <a:r>
              <a:rPr lang="fr-FR" sz="1200" dirty="0"/>
              <a:t>() réutilisée 4 fois, et </a:t>
            </a:r>
            <a:r>
              <a:rPr lang="fr-FR" sz="1200" dirty="0" err="1"/>
              <a:t>canvas.itemconfig</a:t>
            </a:r>
            <a:r>
              <a:rPr lang="fr-FR" sz="1200" dirty="0"/>
              <a:t>(</a:t>
            </a:r>
            <a:r>
              <a:rPr lang="fr-FR" sz="1200" dirty="0" err="1"/>
              <a:t>texte_monnaie</a:t>
            </a:r>
            <a:r>
              <a:rPr lang="fr-FR" sz="1200" dirty="0"/>
              <a:t>, ...) pour afficher la monnaie.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1200" b="1" dirty="0"/>
              <a:t>3. Positionnement et dimensions des éléments</a:t>
            </a:r>
            <a:br>
              <a:rPr lang="fr-FR" sz="1200" dirty="0"/>
            </a:br>
            <a:r>
              <a:rPr lang="fr-FR" sz="1200" dirty="0"/>
              <a:t>J’ai placé chaque élément, en cherchant le bon équilibre et la symétrie.</a:t>
            </a:r>
            <a:br>
              <a:rPr lang="fr-FR" sz="1200" dirty="0"/>
            </a:br>
            <a:r>
              <a:rPr lang="fr-FR" sz="1200" i="1" dirty="0"/>
              <a:t>Ex. :</a:t>
            </a:r>
            <a:r>
              <a:rPr lang="fr-FR" sz="1200" dirty="0"/>
              <a:t> fenêtre 16/9 (1152 x 648) centrée sur 576, et une boucle for qui aligne 41 lumières alternées rouge/doré.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fr-FR" sz="1200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586B9460-F2BE-4BDE-48FE-0BBC8F9AEA3E}"/>
              </a:ext>
            </a:extLst>
          </p:cNvPr>
          <p:cNvSpPr txBox="1">
            <a:spLocks/>
          </p:cNvSpPr>
          <p:nvPr/>
        </p:nvSpPr>
        <p:spPr>
          <a:xfrm>
            <a:off x="5848707" y="3474447"/>
            <a:ext cx="6403675" cy="3742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fr-FR" b="1" dirty="0"/>
              <a:t>Difficultés 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1200" b="1" dirty="0"/>
              <a:t>1. Paramètres des fonctions et syntaxe</a:t>
            </a:r>
            <a:br>
              <a:rPr lang="fr-FR" sz="1200" dirty="0"/>
            </a:br>
            <a:r>
              <a:rPr lang="fr-FR" sz="1200" dirty="0"/>
              <a:t>Il faut retenir le nom, l’ordre et le type des paramètres.</a:t>
            </a:r>
            <a:br>
              <a:rPr lang="fr-FR" sz="1200" dirty="0"/>
            </a:br>
            <a:r>
              <a:rPr lang="fr-FR" sz="1200" i="1" dirty="0"/>
              <a:t>Ex. :</a:t>
            </a:r>
            <a:r>
              <a:rPr lang="fr-FR" sz="1200" dirty="0"/>
              <a:t> </a:t>
            </a:r>
            <a:r>
              <a:rPr lang="fr-FR" sz="1200" dirty="0" err="1"/>
              <a:t>create_rectangle</a:t>
            </a:r>
            <a:r>
              <a:rPr lang="fr-FR" sz="1200" dirty="0"/>
              <a:t>(x1, y1, x2, y2, </a:t>
            </a:r>
            <a:r>
              <a:rPr lang="fr-FR" sz="1200" dirty="0" err="1"/>
              <a:t>fill</a:t>
            </a:r>
            <a:r>
              <a:rPr lang="fr-FR" sz="1200" dirty="0"/>
              <a:t>=..., </a:t>
            </a:r>
            <a:r>
              <a:rPr lang="fr-FR" sz="1200" dirty="0" err="1"/>
              <a:t>outline</a:t>
            </a:r>
            <a:r>
              <a:rPr lang="fr-FR" sz="1200" dirty="0"/>
              <a:t>=...), ou command=</a:t>
            </a:r>
            <a:r>
              <a:rPr lang="fr-FR" sz="1200" dirty="0" err="1"/>
              <a:t>valider_mise</a:t>
            </a:r>
            <a:r>
              <a:rPr lang="fr-FR" sz="1200" dirty="0"/>
              <a:t> écrit sans parenthèses.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1200" b="1" dirty="0"/>
              <a:t>2. Disposition des boutons et des textes</a:t>
            </a:r>
            <a:br>
              <a:rPr lang="fr-FR" sz="1200" dirty="0"/>
            </a:br>
            <a:r>
              <a:rPr lang="fr-FR" sz="1200" dirty="0"/>
              <a:t>Il faut beaucoup d’essais pour que rien ne se chevauche, car on ne voit le résultat qu’en     lançant le programme.</a:t>
            </a:r>
            <a:br>
              <a:rPr lang="fr-FR" sz="1200" dirty="0"/>
            </a:br>
            <a:r>
              <a:rPr lang="fr-FR" sz="1200" i="1" dirty="0"/>
              <a:t>Ex. :</a:t>
            </a:r>
            <a:r>
              <a:rPr lang="fr-FR" sz="1200" dirty="0"/>
              <a:t> régler les positions verticales (titre y=190, message 402, mise 442, boutons 522).</a:t>
            </a:r>
          </a:p>
          <a:p>
            <a:pPr marL="0" indent="0">
              <a:buNone/>
            </a:pPr>
            <a:r>
              <a:rPr lang="fr-FR" sz="1200" b="1" dirty="0"/>
              <a:t>3. Correction des erreurs</a:t>
            </a:r>
            <a:br>
              <a:rPr lang="fr-FR" sz="1200" dirty="0"/>
            </a:br>
            <a:r>
              <a:rPr lang="fr-FR" sz="1200" dirty="0"/>
              <a:t>J’ai souvent fait des erreurs de syntaxe                                                                                                    Ex : oubli des :, indentation, confusion entre = et ==) et d’ordre dans le code. Penser à convertir les types (</a:t>
            </a:r>
            <a:r>
              <a:rPr lang="fr-FR" sz="1200" dirty="0" err="1"/>
              <a:t>int</a:t>
            </a:r>
            <a:r>
              <a:rPr lang="fr-FR" sz="1200" dirty="0"/>
              <a:t>(), </a:t>
            </a:r>
            <a:r>
              <a:rPr lang="fr-FR" sz="1200" dirty="0" err="1"/>
              <a:t>str</a:t>
            </a:r>
            <a:r>
              <a:rPr lang="fr-FR" sz="1200" dirty="0"/>
              <a:t>()) et gérer les saisies invalides du joueur avec </a:t>
            </a:r>
            <a:r>
              <a:rPr lang="fr-FR" sz="1200" dirty="0" err="1"/>
              <a:t>try</a:t>
            </a:r>
            <a:r>
              <a:rPr lang="fr-FR" sz="1200" dirty="0"/>
              <a:t> / </a:t>
            </a:r>
            <a:r>
              <a:rPr lang="fr-FR" sz="1200" dirty="0" err="1"/>
              <a:t>except</a:t>
            </a:r>
            <a:r>
              <a:rPr lang="fr-FR" sz="1200" dirty="0"/>
              <a:t> </a:t>
            </a:r>
            <a:r>
              <a:rPr lang="fr-FR" sz="1200" dirty="0" err="1"/>
              <a:t>ValueError</a:t>
            </a:r>
            <a:r>
              <a:rPr lang="fr-FR" sz="1200" dirty="0"/>
              <a:t>.</a:t>
            </a:r>
          </a:p>
        </p:txBody>
      </p:sp>
      <p:pic>
        <p:nvPicPr>
          <p:cNvPr id="12" name="Image 11" descr="The image depicts a black and gold themed online casino interface with options to place bets and play games like roulette and blackjack.&#10;&#10;Le contenu généré par l’IA peut être incorrect.">
            <a:extLst>
              <a:ext uri="{FF2B5EF4-FFF2-40B4-BE49-F238E27FC236}">
                <a16:creationId xmlns:a16="http://schemas.microsoft.com/office/drawing/2014/main" id="{D8488CE0-6287-E7C4-6B2F-072C9C87D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136" y="775757"/>
            <a:ext cx="4968816" cy="277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2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3692CA2-9124-960E-E4F3-ABA701B6ED7D}"/>
              </a:ext>
            </a:extLst>
          </p:cNvPr>
          <p:cNvSpPr txBox="1"/>
          <p:nvPr/>
        </p:nvSpPr>
        <p:spPr>
          <a:xfrm>
            <a:off x="6753131" y="4421990"/>
            <a:ext cx="3789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/>
                </a:solidFill>
              </a:rPr>
              <a:t>Roulette</a:t>
            </a:r>
          </a:p>
        </p:txBody>
      </p:sp>
    </p:spTree>
    <p:extLst>
      <p:ext uri="{BB962C8B-B14F-4D97-AF65-F5344CB8AC3E}">
        <p14:creationId xmlns:p14="http://schemas.microsoft.com/office/powerpoint/2010/main" val="307615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84956-2EAB-CA64-5234-06F66CB9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C8BE4E-7DD9-C09F-317B-0C364F9B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11" y="113599"/>
            <a:ext cx="9601200" cy="1485900"/>
          </a:xfrm>
        </p:spPr>
        <p:txBody>
          <a:bodyPr/>
          <a:lstStyle/>
          <a:p>
            <a:r>
              <a:rPr lang="fr-FR" dirty="0"/>
              <a:t>Roulette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21C7B1-1235-2DCA-C42B-6A6C80C9A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019" y="930934"/>
            <a:ext cx="4839419" cy="932372"/>
          </a:xfrm>
        </p:spPr>
        <p:txBody>
          <a:bodyPr/>
          <a:lstStyle/>
          <a:p>
            <a:pPr marL="0" indent="0">
              <a:buNone/>
            </a:pPr>
            <a:r>
              <a:rPr lang="fr-FR" i="1" dirty="0"/>
              <a:t>Création de ,,,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73229708-C8B2-07DE-4AF1-3E320D79EB1C}"/>
              </a:ext>
            </a:extLst>
          </p:cNvPr>
          <p:cNvSpPr txBox="1">
            <a:spLocks/>
          </p:cNvSpPr>
          <p:nvPr/>
        </p:nvSpPr>
        <p:spPr>
          <a:xfrm>
            <a:off x="877019" y="1863306"/>
            <a:ext cx="4914179" cy="4413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1800" b="1" dirty="0"/>
              <a:t>Points forts 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1200" b="1" dirty="0"/>
              <a:t>1</a:t>
            </a:r>
            <a:endParaRPr lang="fr-FR" sz="1200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58E586FA-18C5-50C7-0C70-332AFD6F0B94}"/>
              </a:ext>
            </a:extLst>
          </p:cNvPr>
          <p:cNvSpPr txBox="1">
            <a:spLocks/>
          </p:cNvSpPr>
          <p:nvPr/>
        </p:nvSpPr>
        <p:spPr>
          <a:xfrm>
            <a:off x="5848707" y="3474447"/>
            <a:ext cx="6403675" cy="3742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fr-FR" b="1" dirty="0"/>
              <a:t>Difficultés 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1200" b="1" dirty="0"/>
              <a:t>1. 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25201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63AC9-2D90-6EBE-38C3-5662C526F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5E8A10ED-1A36-04D7-B9CE-C209E05C9CCC}"/>
              </a:ext>
            </a:extLst>
          </p:cNvPr>
          <p:cNvSpPr txBox="1"/>
          <p:nvPr/>
        </p:nvSpPr>
        <p:spPr>
          <a:xfrm>
            <a:off x="6753131" y="4421990"/>
            <a:ext cx="3789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/>
                </a:solidFill>
              </a:rPr>
              <a:t>Machine à sous</a:t>
            </a:r>
          </a:p>
        </p:txBody>
      </p:sp>
    </p:spTree>
    <p:extLst>
      <p:ext uri="{BB962C8B-B14F-4D97-AF65-F5344CB8AC3E}">
        <p14:creationId xmlns:p14="http://schemas.microsoft.com/office/powerpoint/2010/main" val="3688111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0BC1D-39EA-D695-C55B-16733297F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8E8B4C-F590-6F0C-258A-F8E5D4051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11" y="113599"/>
            <a:ext cx="9601200" cy="1485900"/>
          </a:xfrm>
        </p:spPr>
        <p:txBody>
          <a:bodyPr/>
          <a:lstStyle/>
          <a:p>
            <a:r>
              <a:rPr lang="fr-FR" dirty="0"/>
              <a:t>Machine à sous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10FBB4-8F00-52AF-35B1-0F8F65326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019" y="930934"/>
            <a:ext cx="4839419" cy="932372"/>
          </a:xfrm>
        </p:spPr>
        <p:txBody>
          <a:bodyPr/>
          <a:lstStyle/>
          <a:p>
            <a:pPr marL="0" indent="0">
              <a:buNone/>
            </a:pPr>
            <a:r>
              <a:rPr lang="fr-FR" i="1" dirty="0"/>
              <a:t>Création de ,,,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ED98B1D5-3CF5-76DD-938D-3FE5BB40998A}"/>
              </a:ext>
            </a:extLst>
          </p:cNvPr>
          <p:cNvSpPr txBox="1">
            <a:spLocks/>
          </p:cNvSpPr>
          <p:nvPr/>
        </p:nvSpPr>
        <p:spPr>
          <a:xfrm>
            <a:off x="877019" y="1863306"/>
            <a:ext cx="4914179" cy="4413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1800" b="1" dirty="0"/>
              <a:t>Points forts 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1200" b="1" dirty="0"/>
              <a:t>1</a:t>
            </a:r>
            <a:endParaRPr lang="fr-FR" sz="1200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2B459549-59B9-8E3D-A9FD-956541E87DEC}"/>
              </a:ext>
            </a:extLst>
          </p:cNvPr>
          <p:cNvSpPr txBox="1">
            <a:spLocks/>
          </p:cNvSpPr>
          <p:nvPr/>
        </p:nvSpPr>
        <p:spPr>
          <a:xfrm>
            <a:off x="5848707" y="3474447"/>
            <a:ext cx="6403675" cy="3742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fr-FR" b="1" dirty="0"/>
              <a:t>Difficultés 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1200" b="1" dirty="0"/>
              <a:t>1. 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997410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05AB4-4D06-BA99-407B-9885B60E3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D14165A6-B07B-200B-E653-C5D12FD27F75}"/>
              </a:ext>
            </a:extLst>
          </p:cNvPr>
          <p:cNvSpPr txBox="1"/>
          <p:nvPr/>
        </p:nvSpPr>
        <p:spPr>
          <a:xfrm>
            <a:off x="6753131" y="4421990"/>
            <a:ext cx="3789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/>
                </a:solidFill>
              </a:rPr>
              <a:t>Black Jack</a:t>
            </a:r>
          </a:p>
        </p:txBody>
      </p:sp>
    </p:spTree>
    <p:extLst>
      <p:ext uri="{BB962C8B-B14F-4D97-AF65-F5344CB8AC3E}">
        <p14:creationId xmlns:p14="http://schemas.microsoft.com/office/powerpoint/2010/main" val="2954749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FDE7E-AD12-7600-DA21-BA6A91C2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24B36E-2BA9-32BC-0A4D-4E9814252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11" y="113599"/>
            <a:ext cx="9601200" cy="1485900"/>
          </a:xfrm>
        </p:spPr>
        <p:txBody>
          <a:bodyPr/>
          <a:lstStyle/>
          <a:p>
            <a:r>
              <a:rPr lang="fr-FR" dirty="0"/>
              <a:t>Black Jack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4C5FA9-7B6B-8BE1-416E-5FFF5785A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019" y="930934"/>
            <a:ext cx="4839419" cy="932372"/>
          </a:xfrm>
        </p:spPr>
        <p:txBody>
          <a:bodyPr/>
          <a:lstStyle/>
          <a:p>
            <a:pPr marL="0" indent="0">
              <a:buNone/>
            </a:pPr>
            <a:r>
              <a:rPr lang="fr-FR" i="1" dirty="0"/>
              <a:t>Création de ,,,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03A72221-92C5-DBAC-F83C-B4B97BD84897}"/>
              </a:ext>
            </a:extLst>
          </p:cNvPr>
          <p:cNvSpPr txBox="1">
            <a:spLocks/>
          </p:cNvSpPr>
          <p:nvPr/>
        </p:nvSpPr>
        <p:spPr>
          <a:xfrm>
            <a:off x="877019" y="1863306"/>
            <a:ext cx="4914179" cy="4413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1800" b="1" dirty="0"/>
              <a:t>Points forts 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1200" b="1" dirty="0"/>
              <a:t>1</a:t>
            </a:r>
            <a:endParaRPr lang="fr-FR" sz="1200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D4486967-B812-B1F0-5F3C-2439C9E51D20}"/>
              </a:ext>
            </a:extLst>
          </p:cNvPr>
          <p:cNvSpPr txBox="1">
            <a:spLocks/>
          </p:cNvSpPr>
          <p:nvPr/>
        </p:nvSpPr>
        <p:spPr>
          <a:xfrm>
            <a:off x="5848707" y="3474447"/>
            <a:ext cx="6403675" cy="3742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fr-FR" b="1" dirty="0"/>
              <a:t>Difficultés 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1200" b="1" dirty="0"/>
              <a:t>1. 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1131734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723D7-DE8D-A696-B58F-81519DFDD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72A52F89-A982-3301-F244-34C069DF65C6}"/>
              </a:ext>
            </a:extLst>
          </p:cNvPr>
          <p:cNvSpPr txBox="1"/>
          <p:nvPr/>
        </p:nvSpPr>
        <p:spPr>
          <a:xfrm>
            <a:off x="6753131" y="4421990"/>
            <a:ext cx="3789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2"/>
                </a:solidFill>
              </a:rPr>
              <a:t>Mise en commun</a:t>
            </a:r>
          </a:p>
        </p:txBody>
      </p:sp>
    </p:spTree>
    <p:extLst>
      <p:ext uri="{BB962C8B-B14F-4D97-AF65-F5344CB8AC3E}">
        <p14:creationId xmlns:p14="http://schemas.microsoft.com/office/powerpoint/2010/main" val="10213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78491-EE0B-671E-EA89-37BFB220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BC6E1F-1E56-5E12-39E9-3AC0C0B75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11" y="113599"/>
            <a:ext cx="9601200" cy="1485900"/>
          </a:xfrm>
        </p:spPr>
        <p:txBody>
          <a:bodyPr/>
          <a:lstStyle/>
          <a:p>
            <a:r>
              <a:rPr lang="fr-FR" dirty="0"/>
              <a:t>Mise en commun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AAE186-B74A-8977-5968-ADF504CE1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019" y="930934"/>
            <a:ext cx="11027434" cy="932372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Mise en commun et assemblage des codes, puis début de la data et présentation du repo GitHub </a:t>
            </a:r>
            <a:endParaRPr lang="fr-FR" i="1" dirty="0"/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52635634-F18D-946E-2727-DADAC2C821CF}"/>
              </a:ext>
            </a:extLst>
          </p:cNvPr>
          <p:cNvSpPr txBox="1">
            <a:spLocks/>
          </p:cNvSpPr>
          <p:nvPr/>
        </p:nvSpPr>
        <p:spPr>
          <a:xfrm>
            <a:off x="954657" y="1863306"/>
            <a:ext cx="4914179" cy="4413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1800" b="1" dirty="0"/>
              <a:t>Points forts 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1200" b="1" dirty="0"/>
              <a:t>1</a:t>
            </a:r>
            <a:endParaRPr lang="fr-FR" sz="1200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6FC18437-FE06-3A83-0FC9-758705981085}"/>
              </a:ext>
            </a:extLst>
          </p:cNvPr>
          <p:cNvSpPr txBox="1">
            <a:spLocks/>
          </p:cNvSpPr>
          <p:nvPr/>
        </p:nvSpPr>
        <p:spPr>
          <a:xfrm>
            <a:off x="6495689" y="1863306"/>
            <a:ext cx="5696311" cy="3742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fr-FR" sz="1800" b="1" dirty="0"/>
              <a:t>Difficultés 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FR" sz="1100" b="1" dirty="0"/>
              <a:t>1. 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1618271358"/>
      </p:ext>
    </p:extLst>
  </p:cSld>
  <p:clrMapOvr>
    <a:masterClrMapping/>
  </p:clrMapOvr>
</p:sld>
</file>

<file path=ppt/theme/theme1.xml><?xml version="1.0" encoding="utf-8"?>
<a:theme xmlns:a="http://schemas.openxmlformats.org/drawingml/2006/main" name="Rogner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920_TF34357615.potx" id="{CE8D3FD0-B6B2-46D1-A798-44428C4A86B6}" vid="{2C857BE5-9AB4-46EA-819B-98EE63B4608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ECF6D8-9EA4-45A1-AFEB-B7C326AF0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D9A38F-9A2C-42E5-9013-4C4B1FFCB4F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C45FB24-BEC6-4D44-888B-84AEBBA2DC0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Rognage</Template>
  <TotalTime>65</TotalTime>
  <Words>550</Words>
  <Application>Microsoft Office PowerPoint</Application>
  <PresentationFormat>Grand écran</PresentationFormat>
  <Paragraphs>69</Paragraphs>
  <Slides>14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Franklin Gothic Book</vt:lpstr>
      <vt:lpstr>Rogner</vt:lpstr>
      <vt:lpstr>ROYAL casino</vt:lpstr>
      <vt:lpstr>Sommaire</vt:lpstr>
      <vt:lpstr>Présentation PowerPoint</vt:lpstr>
      <vt:lpstr>Royal Casino</vt:lpstr>
      <vt:lpstr>Présentation PowerPoint</vt:lpstr>
      <vt:lpstr>Interface graphique du menu principal</vt:lpstr>
      <vt:lpstr>Présentation PowerPoint</vt:lpstr>
      <vt:lpstr>Roulette</vt:lpstr>
      <vt:lpstr>Présentation PowerPoint</vt:lpstr>
      <vt:lpstr>Machine à sous</vt:lpstr>
      <vt:lpstr>Présentation PowerPoint</vt:lpstr>
      <vt:lpstr>Black Jack</vt:lpstr>
      <vt:lpstr>Présentation PowerPoint</vt:lpstr>
      <vt:lpstr>Mise en commun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Pelletier</dc:creator>
  <cp:lastModifiedBy>Emilie Pelletier</cp:lastModifiedBy>
  <cp:revision>5</cp:revision>
  <dcterms:created xsi:type="dcterms:W3CDTF">2026-10-27T13:57:26Z</dcterms:created>
  <dcterms:modified xsi:type="dcterms:W3CDTF">2026-10-27T15:18:58Z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